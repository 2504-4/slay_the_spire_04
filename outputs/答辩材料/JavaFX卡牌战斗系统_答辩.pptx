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7acfae7920446f" /><Relationship Type="http://schemas.openxmlformats.org/officeDocument/2006/relationships/extended-properties" Target="/docProps/app.xml" Id="R6aca8b9a0fe048f7" /><Relationship Type="http://schemas.openxmlformats.org/officeDocument/2006/relationships/officeDocument" Target="/ppt/presentation.xml" Id="R6342dd57f49b40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cee826dc3247a6"/>
  </p:sldMasterIdLst>
  <p:notesMasterIdLst>
    <p:notesMasterId xmlns:r="http://schemas.openxmlformats.org/officeDocument/2006/relationships" r:id="R21b47e7a0e4f44f5"/>
  </p:notesMasterIdLst>
  <p:sldIdLst>
    <p:sldId xmlns:r="http://schemas.openxmlformats.org/officeDocument/2006/relationships" id="256" r:id="Rc4d3b45b96b1460b"/>
    <p:sldId xmlns:r="http://schemas.openxmlformats.org/officeDocument/2006/relationships" id="257" r:id="R310393c3dba14700"/>
    <p:sldId xmlns:r="http://schemas.openxmlformats.org/officeDocument/2006/relationships" id="258" r:id="R040d60e653754431"/>
    <p:sldId xmlns:r="http://schemas.openxmlformats.org/officeDocument/2006/relationships" id="259" r:id="Rff0e062c283640ab"/>
    <p:sldId xmlns:r="http://schemas.openxmlformats.org/officeDocument/2006/relationships" id="260" r:id="Rfe702eaa50e34897"/>
    <p:sldId xmlns:r="http://schemas.openxmlformats.org/officeDocument/2006/relationships" id="261" r:id="Rb92353c6b3904896"/>
    <p:sldId xmlns:r="http://schemas.openxmlformats.org/officeDocument/2006/relationships" id="262" r:id="R415444b10b8f43e4"/>
    <p:sldId xmlns:r="http://schemas.openxmlformats.org/officeDocument/2006/relationships" id="263" r:id="R610b5b4e9efc4902"/>
    <p:sldId xmlns:r="http://schemas.openxmlformats.org/officeDocument/2006/relationships" id="264" r:id="R663872baf4d247cc"/>
    <p:sldId xmlns:r="http://schemas.openxmlformats.org/officeDocument/2006/relationships" id="265" r:id="Ra607b89849404e63"/>
    <p:sldId xmlns:r="http://schemas.openxmlformats.org/officeDocument/2006/relationships" id="266" r:id="R9fb5074a068b4c62"/>
    <p:sldId xmlns:r="http://schemas.openxmlformats.org/officeDocument/2006/relationships" id="267" r:id="R476b1138c64546fe"/>
    <p:sldId xmlns:r="http://schemas.openxmlformats.org/officeDocument/2006/relationships" id="268" r:id="R378ad821ddfb432b"/>
    <p:sldId xmlns:r="http://schemas.openxmlformats.org/officeDocument/2006/relationships" id="269" r:id="R0b3bf98de3c446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35148da3b54017" /><Relationship Type="http://schemas.openxmlformats.org/officeDocument/2006/relationships/slideMaster" Target="/ppt/slideMasters/slideMaster1.xml" Id="R08cee826dc3247a6" /><Relationship Type="http://schemas.openxmlformats.org/officeDocument/2006/relationships/notesMaster" Target="/ppt/notesMasters/notesMaster1.xml" Id="R21b47e7a0e4f44f5" /><Relationship Type="http://schemas.openxmlformats.org/officeDocument/2006/relationships/presProps" Target="/ppt/presProps.xml" Id="Rb3500c52ae7345f9" /><Relationship Type="http://schemas.openxmlformats.org/officeDocument/2006/relationships/tableStyles" Target="/ppt/tableStyles.xml" Id="Rfb888d4f2e6b4f78" /><Relationship Type="http://schemas.openxmlformats.org/officeDocument/2006/relationships/slide" Target="/ppt/slides/slide1.xml" Id="Rc4d3b45b96b1460b" /><Relationship Type="http://schemas.openxmlformats.org/officeDocument/2006/relationships/slide" Target="/ppt/slides/slide2.xml" Id="R310393c3dba14700" /><Relationship Type="http://schemas.openxmlformats.org/officeDocument/2006/relationships/slide" Target="/ppt/slides/slide3.xml" Id="R040d60e653754431" /><Relationship Type="http://schemas.openxmlformats.org/officeDocument/2006/relationships/slide" Target="/ppt/slides/slide4.xml" Id="Rff0e062c283640ab" /><Relationship Type="http://schemas.openxmlformats.org/officeDocument/2006/relationships/slide" Target="/ppt/slides/slide5.xml" Id="Rfe702eaa50e34897" /><Relationship Type="http://schemas.openxmlformats.org/officeDocument/2006/relationships/slide" Target="/ppt/slides/slide6.xml" Id="Rb92353c6b3904896" /><Relationship Type="http://schemas.openxmlformats.org/officeDocument/2006/relationships/slide" Target="/ppt/slides/slide7.xml" Id="R415444b10b8f43e4" /><Relationship Type="http://schemas.openxmlformats.org/officeDocument/2006/relationships/slide" Target="/ppt/slides/slide8.xml" Id="R610b5b4e9efc4902" /><Relationship Type="http://schemas.openxmlformats.org/officeDocument/2006/relationships/slide" Target="/ppt/slides/slide9.xml" Id="R663872baf4d247cc" /><Relationship Type="http://schemas.openxmlformats.org/officeDocument/2006/relationships/slide" Target="/ppt/slides/slide10.xml" Id="Ra607b89849404e63" /><Relationship Type="http://schemas.openxmlformats.org/officeDocument/2006/relationships/slide" Target="/ppt/slides/slide11.xml" Id="R9fb5074a068b4c62" /><Relationship Type="http://schemas.openxmlformats.org/officeDocument/2006/relationships/slide" Target="/ppt/slides/slide12.xml" Id="R476b1138c64546fe" /><Relationship Type="http://schemas.openxmlformats.org/officeDocument/2006/relationships/slide" Target="/ppt/slides/slide13.xml" Id="R378ad821ddfb432b" /><Relationship Type="http://schemas.openxmlformats.org/officeDocument/2006/relationships/slide" Target="/ppt/slides/slide14.xml" Id="R0b3bf98de3c446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4049b688d54a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dbd77312ef4df9" /><Relationship Type="http://schemas.openxmlformats.org/officeDocument/2006/relationships/notesMaster" Target="/ppt/notesMasters/notesMaster1.xml" Id="R5be49e87575a40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df025a4ddc4098" /><Relationship Type="http://schemas.openxmlformats.org/officeDocument/2006/relationships/notesMaster" Target="/ppt/notesMasters/notesMaster1.xml" Id="R877dcc70421546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d2af8e997145c2" /><Relationship Type="http://schemas.openxmlformats.org/officeDocument/2006/relationships/notesMaster" Target="/ppt/notesMasters/notesMaster1.xml" Id="R570fb04536c549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2b8aadcf9b4176" /><Relationship Type="http://schemas.openxmlformats.org/officeDocument/2006/relationships/notesMaster" Target="/ppt/notesMasters/notesMaster1.xml" Id="R339313186f4d4b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bb8a04914249e6" /><Relationship Type="http://schemas.openxmlformats.org/officeDocument/2006/relationships/notesMaster" Target="/ppt/notesMasters/notesMaster1.xml" Id="R18e0ccfe28344c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67f612eff64679" /><Relationship Type="http://schemas.openxmlformats.org/officeDocument/2006/relationships/notesMaster" Target="/ppt/notesMasters/notesMaster1.xml" Id="Rbb280df9c05045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14a42f4e444332" /><Relationship Type="http://schemas.openxmlformats.org/officeDocument/2006/relationships/notesMaster" Target="/ppt/notesMasters/notesMaster1.xml" Id="R4ea0d039cfd643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f20ceb5e434a54" /><Relationship Type="http://schemas.openxmlformats.org/officeDocument/2006/relationships/notesMaster" Target="/ppt/notesMasters/notesMaster1.xml" Id="R04a13e74f4664c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546fbb7f984510" /><Relationship Type="http://schemas.openxmlformats.org/officeDocument/2006/relationships/notesMaster" Target="/ppt/notesMasters/notesMaster1.xml" Id="R25344c5c072c47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d03bee6c404e2e" /><Relationship Type="http://schemas.openxmlformats.org/officeDocument/2006/relationships/notesMaster" Target="/ppt/notesMasters/notesMaster1.xml" Id="R936e42f4e85148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b3c83cd0164298" /><Relationship Type="http://schemas.openxmlformats.org/officeDocument/2006/relationships/notesMaster" Target="/ppt/notesMasters/notesMaster1.xml" Id="R94d3d9c7678245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a4336527984ebd" /><Relationship Type="http://schemas.openxmlformats.org/officeDocument/2006/relationships/notesMaster" Target="/ppt/notesMasters/notesMaster1.xml" Id="Ra15447196fa246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071cda03b5471f" /><Relationship Type="http://schemas.openxmlformats.org/officeDocument/2006/relationships/notesMaster" Target="/ppt/notesMasters/notesMaster1.xml" Id="R21a3c0f354754f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5c4ad9105a4530" /><Relationship Type="http://schemas.openxmlformats.org/officeDocument/2006/relationships/notesMaster" Target="/ppt/notesMasters/notesMaster1.xml" Id="R988c55c4913e46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各位老师好，今天汇报的是基于 JavaFX 的回合制卡牌战斗系统，也就是杀戮尖塔的简化版。这个项目并不是对原作的完整复刻，而是围绕抽牌、能量消耗、攻防结算和关卡奖励，实现一个可交互的单机战斗流程。下面我会结合实际代码，介绍功能范围、核心设计、测试情况，以及还需要改进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代码依据：C:/Users/z1295/IdeaProjects/slay_the_spire_04/</a:t>
            </a:r>
          </a:p>
          <a:p xmlns:a="http://schemas.openxmlformats.org/drawingml/2006/main">
            <a:r>
              <a:t>pom.xml；src/main/java/org/example/Main.java</a:t>
            </a:r>
          </a:p>
          <a:p xmlns:a="http://schemas.openxmlformats.org/drawingml/2006/main">
            <a:r>
              <a:t>核对日期：2026-09-15。测试数字为本次单次运行结果。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项目的目标，是把面向对象设计和图形界面编程结合到一个规则清晰的应用中。当前版本包含菜单、战斗、奖励选择和重新开始。玩家从十张基础牌出发，连续挑战三个小怪和一个最终 Boss，并在前三场胜利后各选择一张奖励卡。这里需要明确项目边界：当前没有地图探索、商店、遗物或者存档系统，所以更准确的定位是一个卡牌战斗原型，而不是完整的肉鸽游戏。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代码依据：C:/Users/z1295/IdeaProjects/slay_the_spire_04/</a:t>
            </a:r>
          </a:p>
          <a:p xmlns:a="http://schemas.openxmlformats.org/drawingml/2006/main">
            <a:r>
              <a:t>GameModel.java；GameController.java；Main.java</a:t>
            </a:r>
          </a:p>
          <a:p xmlns:a="http://schemas.openxmlformats.org/drawingml/2006/main">
            <a:r>
              <a:t>核对日期：2026-09-15。测试数字为本次单次运行结果。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展示的是由当前代码渲染出的战斗界面，不是设计稿。界面上方显示双方生命值和格挡，同时给出敌人的下一步意图。玩家还可以看到剩余能量、抽牌堆和弃牌堆数量，再根据这些信息选择出牌。下面的战斗日志用于解释伤害和格挡变化。操作发生后，界面通过 update 方法重新读取状态并刷新；没有使用独立的动画循环，也不是自动的数据绑定。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代码依据：C:/Users/z1295/IdeaProjects/slay_the_spire_04/</a:t>
            </a:r>
          </a:p>
          <a:p xmlns:a="http://schemas.openxmlformats.org/drawingml/2006/main">
            <a:r>
              <a:t>GameView.java:304–361；实际 JavaFX 场景离屏渲染</a:t>
            </a:r>
          </a:p>
          <a:p xmlns:a="http://schemas.openxmlformats.org/drawingml/2006/main">
            <a:r>
              <a:t>核对日期：2026-09-15。测试数字为本次单次运行结果。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系统按 MVC 的思路划分为三部分。模型层保存玩家、敌人和卡牌规则，不依赖 JavaFX；控制器负责协调出牌、敌人行动、奖励以及胜负判定；视图层负责展示信息和接收按钮事件。Main 负责创建窗口和切换场景。比如点击一张牌时，视图把索引交给控制器，控制器检查当前状态后调用模型，最后视图刷新显示。这种结构便于单独测试战斗逻辑。但当前控制器仍然返回模型对象，部分集合也可被外部修改，因此还不能说是完全隔离的严格 MVC。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代码依据：C:/Users/z1295/IdeaProjects/slay_the_spire_04/</a:t>
            </a:r>
          </a:p>
          <a:p xmlns:a="http://schemas.openxmlformats.org/drawingml/2006/main">
            <a:r>
              <a:t>Main.java；GameView.java；GameController.java；GameModel.java</a:t>
            </a:r>
          </a:p>
          <a:p xmlns:a="http://schemas.openxmlformats.org/drawingml/2006/main">
            <a:r>
              <a:t>核对日期：2026-09-15。测试数字为本次单次运行结果。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卡牌设计使用了抽象类和多态。Card 定义名称、描述、费用、类型，以及抽象的 play 方法。打击、防御和五种奖励卡分别重写这个方法，实现各自效果。玩家出牌时先检查这张牌是否在手牌中，以及能量是否足够，之后统一扣除费用并执行 card.play。例如铁斩波会同时造成七点伤害、获得七点格挡，而重锤是两费二十四点伤害。这样新增效果时不必在控制器中不断添加按卡名判断的分支，但如果要加入奖励池，仍需要调整奖励卡列表。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代码依据：C:/Users/z1295/IdeaProjects/slay_the_spire_04/</a:t>
            </a:r>
          </a:p>
          <a:p xmlns:a="http://schemas.openxmlformats.org/drawingml/2006/main">
            <a:r>
              <a:t>GameModel.java:10–114、173–183</a:t>
            </a:r>
          </a:p>
          <a:p xmlns:a="http://schemas.openxmlformats.org/drawingml/2006/main">
            <a:r>
              <a:t>核对日期：2026-09-15。测试数字为本次单次运行结果。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玩家的牌组分为抽牌堆、手牌和弃牌堆，另外还有一个 deck 集合保存当前整副牌的记录。初始配置是五张打击和五张防御，一共十张。每回合抽五张，手牌上限为十张。打出的牌进入弃牌堆，结束回合时未打出的牌也进入弃牌堆。当抽牌堆为空时，系统把弃牌堆洗回抽牌堆。因此卡牌是在不同容器之间流转，而不是每回合生成一批新牌。切换关卡时也会合并并洗牌，避免上一关的手牌残留到下一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代码依据：C:/Users/z1295/IdeaProjects/slay_the_spire_04/</a:t>
            </a:r>
          </a:p>
          <a:p xmlns:a="http://schemas.openxmlformats.org/drawingml/2006/main">
            <a:r>
              <a:t>GameModel.java:117–207</a:t>
            </a:r>
          </a:p>
          <a:p xmlns:a="http://schemas.openxmlformats.org/drawingml/2006/main">
            <a:r>
              <a:t>核对日期：2026-09-15。测试数字为本次单次运行结果。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战斗中比较容易出错的是结算顺序。玩家结束回合后，先弃掉剩余手牌，再开始敌人回合。敌人先清除自己的旧格挡，然后执行之前展示的意图，再生成下一回合意图。如果玩家没有死亡，才开始玩家的新回合，恢复三点能量、清除玩家旧格挡并抽牌。因此玩家本回合获得的格挡能够抵挡紧接着的敌人攻击；敌人防御得到的格挡则会保留到玩家行动。伤害结算使用最小值计算被格挡吸收的部分，再扣生命值，并把生命值下限限制为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代码依据：C:/Users/z1295/IdeaProjects/slay_the_spire_04/</a:t>
            </a:r>
          </a:p>
          <a:p xmlns:a="http://schemas.openxmlformats.org/drawingml/2006/main">
            <a:r>
              <a:t>GameController.java:endTurn、enemyTurn、beginNewTurn；GameModel.java:startTurn、takeDamage</a:t>
            </a:r>
          </a:p>
          <a:p xmlns:a="http://schemas.openxmlformats.org/drawingml/2006/main">
            <a:r>
              <a:t>核对日期：2026-09-15。测试数字为本次单次运行结果。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敌人的行为采用简单的概率规则，而不是机器学习。第一回合固定攻击，之后以百分之七十的概率攻击、百分之二十的概率防御、百分之十的概率同时攻防。意图在行动前对玩家可见，所以玩家能够据此决定要保留多少防御。四个关卡用 EnemyLevel 记录配置，生命值依次为二十五、四十、六十和九十，基础攻击依次为四、六、八和十二。更换敌人时不需要重写战斗流程，但这些数值目前只是初始配置，还没有通过大量对局完成平衡性验证。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代码依据：C:/Users/z1295/IdeaProjects/slay_the_spire_04/</a:t>
            </a:r>
          </a:p>
          <a:p xmlns:a="http://schemas.openxmlformats.org/drawingml/2006/main">
            <a:r>
              <a:t>GameModel.java:Enemy；GameController.java:LEVELS</a:t>
            </a:r>
          </a:p>
          <a:p xmlns:a="http://schemas.openxmlformats.org/drawingml/2006/main">
            <a:r>
              <a:t>核对日期：2026-09-15。测试数字为本次单次运行结果。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击败前三个敌人后，系统不会马上判定整局胜利，而是进入等待奖励的状态。控制器把五种奖励卡打乱后取前三张，因此同一轮选项不会重复，但不同关卡仍然可能出现相同卡牌。等待奖励时，出牌和结束回合都会被拦截。玩家选择后，卡牌加入牌组，关卡索引增加，敌人被替换，所有牌重新洗牌并开始新的玩家回合。玩家当前生命值会保留，不会自动回满。只有击败第四关的大魔王，才会设置整局胜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代码依据：C:/Users/z1295/IdeaProjects/slay_the_spire_04/</a:t>
            </a:r>
          </a:p>
          <a:p xmlns:a="http://schemas.openxmlformats.org/drawingml/2006/main">
            <a:r>
              <a:t>GameController.java:onEnemyDefeated、createRewardChoices、selectReward；奖励场景实际渲染</a:t>
            </a:r>
          </a:p>
          <a:p xmlns:a="http://schemas.openxmlformats.org/drawingml/2006/main">
            <a:r>
              <a:t>核对日期：2026-09-15。测试数字为本次单次运行结果。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了避免界面表现和游戏规则不一致，系统做了两层限制。界面会禁用能量不足的卡牌，以及奖励或结束状态下的结束回合按钮；控制器入口也会检查是否轮到玩家、游戏是否结束、是否等待奖励，以及索引是否合法。战斗日志最多保留一百条，避免不断增长。重新开始则通过 Supplier 创建新的控制器，让玩家、敌人和牌堆重新初始化。异常捕获目前主要用于记录错误，并不能自动回滚已经发生的状态变化，这是后续需要继续完善的部分。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代码依据：C:/Users/z1295/IdeaProjects/slay_the_spire_04/</a:t>
            </a:r>
          </a:p>
          <a:p xmlns:a="http://schemas.openxmlformats.org/drawingml/2006/main">
            <a:r>
              <a:t>GameController.java:playCard、endTurn、canPlayCard、log；GameView.java:304–442</a:t>
            </a:r>
          </a:p>
          <a:p xmlns:a="http://schemas.openxmlformats.org/drawingml/2006/main">
            <a:r>
              <a:t>核对日期：2026-09-15。测试数字为本次单次运行结果。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测试方面，项目使用 JUnit 5，并配置了 Surefire 和 JaCoCo。此次实际执行了十五个测试实例，十四个通过，一个失败，没有错误和跳过。失败的是 victoryCondition 通关测试。原因是游戏加入奖励阶段后，这个测试仍然只循环出牌和结束回合，没有调用 selectReward，因此打败第一关后会停在等待奖励状态，最终无法满足通关断言。这个结果不能被包装成全部测试通过，也不能证明整个游戏不可玩。下一步应让测试覆盖奖励转移，并固定随机性，再补充失败结局和边界条件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代码依据：C:/Users/z1295/IdeaProjects/slay_the_spire_04/</a:t>
            </a:r>
          </a:p>
          <a:p xmlns:a="http://schemas.openxmlformats.org/drawingml/2006/main">
            <a:r>
              <a:t>GameControllerTest.java；target/surefire-reports/org.example.controller.GameControllerTest.txt；2026-09-15 单次 mvn test</a:t>
            </a:r>
          </a:p>
          <a:p xmlns:a="http://schemas.openxmlformats.org/drawingml/2006/main">
            <a:r>
              <a:t>核对日期：2026-09-15。测试数字为本次单次运行结果。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演示我会按三个检查点进行。首先开始一局，说明八十点生命值、三点能量和五张起始手牌。接着根据敌人意图使用攻击或防御，展示能量、生命和牌堆数量如何变化，再点击结束回合观察结算。最后在击败第一关后展示三选一奖励，选择后检查关卡进入第二关、牌组总量增加，同时玩家生命值没有重置。由于抽牌和意图具有随机性，不承诺固定回合通关。如果时间有限，可以只演示一轮战斗，并用奖励界面截图说明后续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代码依据：C:/Users/z1295/IdeaProjects/slay_the_spire_04/</a:t>
            </a:r>
          </a:p>
          <a:p xmlns:a="http://schemas.openxmlformats.org/drawingml/2006/main">
            <a:r>
              <a:t>Main.java；GameController.java；GameView.java</a:t>
            </a:r>
          </a:p>
          <a:p xmlns:a="http://schemas.openxmlformats.org/drawingml/2006/main">
            <a:r>
              <a:t>核对日期：2026-09-15。测试数字为本次单次运行结果。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最优先的改进不是增加更多卡牌，而是提高可验证性。第一步修正通关测试，补充失败状态、奖励锁定、格挡和洗牌边界的断言；第二步把随机源作为依赖传入，方便复现对局；第三步收紧模型状态的访问权限，并同步 README 中的入口、版本和初始牌组说明。在这些基础稳定之后，再考虑把关卡和卡牌做成外部配置，以及加入存档、地图和更丰富的敌人策略。后面这些属于规划，不是已经完成的功能。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代码依据：C:/Users/z1295/IdeaProjects/slay_the_spire_04/</a:t>
            </a:r>
          </a:p>
          <a:p xmlns:a="http://schemas.openxmlformats.org/drawingml/2006/main">
            <a:r>
              <a:t>代码审阅；GameControllerTest.java；README.md 与 pom.xml 差异</a:t>
            </a:r>
          </a:p>
          <a:p xmlns:a="http://schemas.openxmlformats.org/drawingml/2006/main">
            <a:r>
              <a:t>核对日期：2026-09-15。测试数字为本次单次运行结果。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结来说，本项目围绕回合制卡牌战斗，实现了从菜单进入、出牌结算，到关卡奖励和胜负结束的主要流程。设计上的重点是用卡牌多态表达不同效果，用分层结构分开界面和规则，再用明确的回合顺序管理状态变化。同时，本次测试也暴露了流程变更后测试未同步的问题，提醒我不仅要实现功能，还要验证完整路径。以上就是本次汇报，谢谢各位老师，欢迎提出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代码依据：C:/Users/z1295/IdeaProjects/slay_the_spire_04/</a:t>
            </a:r>
          </a:p>
          <a:p xmlns:a="http://schemas.openxmlformats.org/drawingml/2006/main">
            <a:r>
              <a:t>以上代码与本次测试结果</a:t>
            </a:r>
          </a:p>
          <a:p xmlns:a="http://schemas.openxmlformats.org/drawingml/2006/main">
            <a:r>
              <a:t>核对日期：2026-09-15。测试数字为本次单次运行结果。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f2c2b3dd694a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d9e83b89544c8a" /><Relationship Type="http://schemas.openxmlformats.org/officeDocument/2006/relationships/slideLayout" Target="/ppt/slideLayouts/slideLayout1.xml" Id="Rc9cab9117f984a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cab9117f984a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fffe83278474d" /><Relationship Type="http://schemas.openxmlformats.org/officeDocument/2006/relationships/notesSlide" Target="/ppt/notesSlides/notesSlide1.xml" Id="Rc852fc76276d45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485b75b5f476f" /><Relationship Type="http://schemas.openxmlformats.org/officeDocument/2006/relationships/notesSlide" Target="/ppt/notesSlides/notesSlide2.xml" Id="R5d221f5b8b6741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5af129e9f4715" /><Relationship Type="http://schemas.openxmlformats.org/officeDocument/2006/relationships/image" Target="/ppt/media/image.png" Id="Ra92403b6d86f4708" /><Relationship Type="http://schemas.openxmlformats.org/officeDocument/2006/relationships/notesSlide" Target="/ppt/notesSlides/notesSlide3.xml" Id="Rdc9d6cec9a7746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5a4016be04872" /><Relationship Type="http://schemas.openxmlformats.org/officeDocument/2006/relationships/notesSlide" Target="/ppt/notesSlides/notesSlide4.xml" Id="Re07e51d504cd47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c3c353a7a4a37" /><Relationship Type="http://schemas.openxmlformats.org/officeDocument/2006/relationships/notesSlide" Target="/ppt/notesSlides/notesSlide5.xml" Id="Re12683980c004a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9dd44b5104b3c" /><Relationship Type="http://schemas.openxmlformats.org/officeDocument/2006/relationships/notesSlide" Target="/ppt/notesSlides/notesSlide6.xml" Id="Rd6959e88e8a84d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6f047514c4d83" /><Relationship Type="http://schemas.openxmlformats.org/officeDocument/2006/relationships/notesSlide" Target="/ppt/notesSlides/notesSlide7.xml" Id="Rf929dea7cb214c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99873d6b54eff" /><Relationship Type="http://schemas.openxmlformats.org/officeDocument/2006/relationships/notesSlide" Target="/ppt/notesSlides/notesSlide8.xml" Id="Rb9b50b7f82a849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587dad93c4b9d" /><Relationship Type="http://schemas.openxmlformats.org/officeDocument/2006/relationships/image" Target="/ppt/media/image2.png" Id="Rfe63b88bb5b04dd4" /><Relationship Type="http://schemas.openxmlformats.org/officeDocument/2006/relationships/notesSlide" Target="/ppt/notesSlides/notesSlide9.xml" Id="R87458d6f99ad4d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d088a0b2842b6" /><Relationship Type="http://schemas.openxmlformats.org/officeDocument/2006/relationships/notesSlide" Target="/ppt/notesSlides/notesSlide10.xml" Id="Ra25b4328fe494f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66261af9647bc" /><Relationship Type="http://schemas.openxmlformats.org/officeDocument/2006/relationships/notesSlide" Target="/ppt/notesSlides/notesSlide11.xml" Id="Rf57110302a8944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fdf40992d4673" /><Relationship Type="http://schemas.openxmlformats.org/officeDocument/2006/relationships/notesSlide" Target="/ppt/notesSlides/notesSlide12.xml" Id="R24e78e85b71a4b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77465f47049d4" /><Relationship Type="http://schemas.openxmlformats.org/officeDocument/2006/relationships/notesSlide" Target="/ppt/notesSlides/notesSlide13.xml" Id="R2cbd8d0ddece49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c35de7c0c4c6a" /><Relationship Type="http://schemas.openxmlformats.org/officeDocument/2006/relationships/notesSlide" Target="/ppt/notesSlides/notesSlide14.xml" Id="R9f3a7c17c35341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6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82DA47D-3E9A-428D-B3C1-C5ED64D5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C9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7C9D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74DA260-9BFB-4A38-A56C-FD75E3BA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E6AF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E6AF52"/>
                </a:solidFill>
                <a:latin typeface="Microsoft YaHei"/>
                <a:ea typeface="Microsoft YaHei"/>
                <a:cs typeface="Microsoft YaHei"/>
              </a:rPr>
              <a:t>JavaFX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1B18518-4626-4C39-B961-04ECF4E9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卡牌战斗系统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2FF1355-2314-45C2-B8F9-F1F7AD71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10287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D1DF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D1DFE7"/>
                </a:solidFill>
                <a:latin typeface="Microsoft YaHei"/>
                <a:ea typeface="Microsoft YaHei"/>
                <a:cs typeface="Microsoft YaHei"/>
              </a:rPr>
              <a:t>杀戮尖塔简化版的设计与实现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5B7D7C7-0736-4665-9EF7-E341B888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149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课程项目答辩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C3CDD4A-534C-4F62-833F-77A68903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FC3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FC3D3"/>
                </a:solidFill>
                <a:latin typeface="Microsoft YaHei"/>
                <a:ea typeface="Microsoft YaHei"/>
                <a:cs typeface="Microsoft YaHei"/>
              </a:rPr>
              <a:t>Java 17  /  JavaFX 17.0.2  /  Maven</a:t>
            </a:r>
          </a:p>
        </p:txBody>
      </p:sp>
    </p:spTree>
    <p:extLst>
      <p:ext uri="{BB962C8B-B14F-4D97-AF65-F5344CB8AC3E}">
        <p14:creationId xmlns:p14="http://schemas.microsoft.com/office/powerpoint/2010/main" val="9780098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6">
            <a:extLst xmlns:a="http://schemas.openxmlformats.org/drawingml/2006/main">
              <a:ext uri="{FF2B5EF4-FFF2-40B4-BE49-F238E27FC236}">
                <a16:creationId xmlns:a16="http://schemas.microsoft.com/office/drawing/2014/main" id="{F742CC08-9F64-4D9F-8E8F-62770D68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项目范围与完成情况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AB3A68D2-37F3-417F-A872-FB43CCCC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237DADFC-4CD1-469E-A413-06109DFA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rPr>
              <a:t>一个围绕卡牌战斗构建的单机原型</a:t>
            </a:r>
          </a:p>
        </p:txBody>
      </p:sp>
      <p:sp>
        <p:nvSpPr>
          <p:cNvPr id="4" name="text-9">
            <a:extLst xmlns:a="http://schemas.openxmlformats.org/drawingml/2006/main">
              <a:ext uri="{FF2B5EF4-FFF2-40B4-BE49-F238E27FC236}">
                <a16:creationId xmlns:a16="http://schemas.microsoft.com/office/drawing/2014/main" id="{D3E89A2A-7F74-4306-84EC-15BC60FF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5C6B922E-D030-497F-935D-72E816AD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连续关卡</a:t>
            </a:r>
          </a:p>
        </p:txBody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A51E368C-4287-430D-9F7B-05450C4E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050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4FF6FCF0-BA4D-4FA0-9E6B-35736508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90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种可用卡牌</a:t>
            </a:r>
          </a:p>
        </p:txBody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14F9B276-F49C-449F-9AD8-A9E63257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EE5932D8-B749-43E3-B7C0-A4EA1FCF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90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次战后选牌</a:t>
            </a:r>
          </a:p>
        </p:txBody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DF8843ED-2E6E-4242-9C70-855711BF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11" name="text-16">
            <a:extLst xmlns:a="http://schemas.openxmlformats.org/drawingml/2006/main">
              <a:ext uri="{FF2B5EF4-FFF2-40B4-BE49-F238E27FC236}">
                <a16:creationId xmlns:a16="http://schemas.microsoft.com/office/drawing/2014/main" id="{6AB4BA50-9DE3-4084-B0EF-9332412F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57700"/>
            <a:ext cx="900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菜单进入 → 回合战斗 → 奖励选牌 → 最终胜负</a:t>
            </a:r>
          </a:p>
        </p:txBody>
      </p:sp>
      <p:sp>
        <p:nvSpPr>
          <p:cNvPr id="12" name="text-17">
            <a:extLst xmlns:a="http://schemas.openxmlformats.org/drawingml/2006/main">
              <a:ext uri="{FF2B5EF4-FFF2-40B4-BE49-F238E27FC236}">
                <a16:creationId xmlns:a16="http://schemas.microsoft.com/office/drawing/2014/main" id="{59928822-80A7-4B74-9AAD-B1581A2C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范围边界</a:t>
            </a:r>
          </a:p>
        </p:txBody>
      </p:sp>
      <p:sp>
        <p:nvSpPr>
          <p:cNvPr id="13" name="text-18">
            <a:extLst xmlns:a="http://schemas.openxmlformats.org/drawingml/2006/main">
              <a:ext uri="{FF2B5EF4-FFF2-40B4-BE49-F238E27FC236}">
                <a16:creationId xmlns:a16="http://schemas.microsoft.com/office/drawing/2014/main" id="{1D5596B4-4D35-4427-9C23-CCD18726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9001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不包含地图、商店、遗物、存档等完整原作系统</a:t>
            </a:r>
          </a:p>
        </p:txBody>
      </p:sp>
    </p:spTree>
    <p:extLst>
      <p:ext uri="{BB962C8B-B14F-4D97-AF65-F5344CB8AC3E}">
        <p14:creationId xmlns:p14="http://schemas.microsoft.com/office/powerpoint/2010/main" val="1915635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9">
            <a:extLst xmlns:a="http://schemas.openxmlformats.org/drawingml/2006/main">
              <a:ext uri="{FF2B5EF4-FFF2-40B4-BE49-F238E27FC236}">
                <a16:creationId xmlns:a16="http://schemas.microsoft.com/office/drawing/2014/main" id="{89BF560A-157C-4201-8877-E8DC534A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界面围绕战斗决策组织</a:t>
            </a:r>
          </a:p>
        </p:txBody>
      </p:sp>
      <p:sp>
        <p:nvSpPr>
          <p:cNvPr id="2" name="text-20">
            <a:extLst xmlns:a="http://schemas.openxmlformats.org/drawingml/2006/main">
              <a:ext uri="{FF2B5EF4-FFF2-40B4-BE49-F238E27FC236}">
                <a16:creationId xmlns:a16="http://schemas.microsoft.com/office/drawing/2014/main" id="{1C647B7E-312F-44C2-9555-4A8FD425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403b6d86f4708"/>
          <a:stretch xmlns:a="http://schemas.openxmlformats.org/drawingml/2006/main"/>
        </p:blipFill>
        <p:spPr>
          <a:xfrm xmlns:a="http://schemas.openxmlformats.org/drawingml/2006/main">
            <a:off x="609600" y="1335511"/>
            <a:ext cx="5295900" cy="4825153"/>
          </a:xfrm>
          <a:prstGeom xmlns:a="http://schemas.openxmlformats.org/drawingml/2006/main" prst="rect">
            <a:avLst/>
          </a:prstGeom>
        </p:spPr>
      </p:pic>
      <p:sp>
        <p:nvSpPr>
          <p:cNvPr id="4" name="text-21">
            <a:extLst xmlns:a="http://schemas.openxmlformats.org/drawingml/2006/main">
              <a:ext uri="{FF2B5EF4-FFF2-40B4-BE49-F238E27FC236}">
                <a16:creationId xmlns:a16="http://schemas.microsoft.com/office/drawing/2014/main" id="{5B1597A0-862C-4686-BA19-DA3C9409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609725"/>
            <a:ext cx="513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先看敌人意图</a:t>
            </a:r>
          </a:p>
        </p:txBody>
      </p:sp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004E53A1-6B2F-4608-BC7B-90C3E5EF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57400"/>
            <a:ext cx="5133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攻击或防御的选择有明确依据</a:t>
            </a:r>
          </a:p>
        </p:txBody>
      </p:sp>
      <p:sp>
        <p:nvSpPr>
          <p:cNvPr id="6" name="text-23">
            <a:extLst xmlns:a="http://schemas.openxmlformats.org/drawingml/2006/main">
              <a:ext uri="{FF2B5EF4-FFF2-40B4-BE49-F238E27FC236}">
                <a16:creationId xmlns:a16="http://schemas.microsoft.com/office/drawing/2014/main" id="{F42289A0-E457-4B11-8337-A9A9A1EE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95600"/>
            <a:ext cx="513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再分配有限能量</a:t>
            </a:r>
          </a:p>
        </p:txBody>
      </p:sp>
      <p:sp>
        <p:nvSpPr>
          <p:cNvPr id="7" name="text-24">
            <a:extLst xmlns:a="http://schemas.openxmlformats.org/drawingml/2006/main">
              <a:ext uri="{FF2B5EF4-FFF2-40B4-BE49-F238E27FC236}">
                <a16:creationId xmlns:a16="http://schemas.microsoft.com/office/drawing/2014/main" id="{291D1A6E-FFEA-4846-A9F2-B92B7493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43275"/>
            <a:ext cx="5133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能量不足的手牌会被禁用</a:t>
            </a:r>
          </a:p>
        </p:txBody>
      </p:sp>
      <p:sp>
        <p:nvSpPr>
          <p:cNvPr id="8" name="text-25">
            <a:extLst xmlns:a="http://schemas.openxmlformats.org/drawingml/2006/main">
              <a:ext uri="{FF2B5EF4-FFF2-40B4-BE49-F238E27FC236}">
                <a16:creationId xmlns:a16="http://schemas.microsoft.com/office/drawing/2014/main" id="{6BA6F7F1-FEF9-4BC6-AF48-95896310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181475"/>
            <a:ext cx="513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通过日志核对结果</a:t>
            </a:r>
          </a:p>
        </p:txBody>
      </p:sp>
      <p:sp>
        <p:nvSpPr>
          <p:cNvPr id="9" name="text-26">
            <a:extLst xmlns:a="http://schemas.openxmlformats.org/drawingml/2006/main">
              <a:ext uri="{FF2B5EF4-FFF2-40B4-BE49-F238E27FC236}">
                <a16:creationId xmlns:a16="http://schemas.microsoft.com/office/drawing/2014/main" id="{FC292A27-AA35-4243-AD8F-671C04B9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29150"/>
            <a:ext cx="5133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伤害、格挡和回合变化可追踪</a:t>
            </a:r>
          </a:p>
        </p:txBody>
      </p:sp>
    </p:spTree>
    <p:extLst>
      <p:ext uri="{BB962C8B-B14F-4D97-AF65-F5344CB8AC3E}">
        <p14:creationId xmlns:p14="http://schemas.microsoft.com/office/powerpoint/2010/main" val="491036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27">
            <a:extLst xmlns:a="http://schemas.openxmlformats.org/drawingml/2006/main">
              <a:ext uri="{FF2B5EF4-FFF2-40B4-BE49-F238E27FC236}">
                <a16:creationId xmlns:a16="http://schemas.microsoft.com/office/drawing/2014/main" id="{C35AB4DA-C7D0-4DBE-86FC-0FA46E42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按 MVC 思路划分职责</a:t>
            </a:r>
          </a:p>
        </p:txBody>
      </p:sp>
      <p:sp>
        <p:nvSpPr>
          <p:cNvPr id="2" name="text-28">
            <a:extLst xmlns:a="http://schemas.openxmlformats.org/drawingml/2006/main">
              <a:ext uri="{FF2B5EF4-FFF2-40B4-BE49-F238E27FC236}">
                <a16:creationId xmlns:a16="http://schemas.microsoft.com/office/drawing/2014/main" id="{0106E4D8-66BD-4CD5-8CF9-D91B7A5B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01EAB-BB76-4AEA-92C5-DA5A74EE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4317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B633A-CF35-44F3-9AF0-AB3222CA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4317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C92C1-450C-4073-9BB0-F683AE3F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124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6" name="text-29">
            <a:extLst xmlns:a="http://schemas.openxmlformats.org/drawingml/2006/main">
              <a:ext uri="{FF2B5EF4-FFF2-40B4-BE49-F238E27FC236}">
                <a16:creationId xmlns:a16="http://schemas.microsoft.com/office/drawing/2014/main" id="{1B96F7B3-EBA7-43F0-84AF-B9DBD32B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2743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View</a:t>
            </a:r>
          </a:p>
        </p:txBody>
      </p:sp>
      <p:sp>
        <p:nvSpPr>
          <p:cNvPr id="7" name="text-30">
            <a:extLst xmlns:a="http://schemas.openxmlformats.org/drawingml/2006/main">
              <a:ext uri="{FF2B5EF4-FFF2-40B4-BE49-F238E27FC236}">
                <a16:creationId xmlns:a16="http://schemas.microsoft.com/office/drawing/2014/main" id="{6D99C166-FBAA-424A-802C-A7B2DB52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rPr>
              <a:t>GameView / MenuView</a:t>
            </a:r>
          </a:p>
        </p:txBody>
      </p:sp>
      <p:sp>
        <p:nvSpPr>
          <p:cNvPr id="8" name="text-31">
            <a:extLst xmlns:a="http://schemas.openxmlformats.org/drawingml/2006/main">
              <a:ext uri="{FF2B5EF4-FFF2-40B4-BE49-F238E27FC236}">
                <a16:creationId xmlns:a16="http://schemas.microsoft.com/office/drawing/2014/main" id="{1BC12E70-CB37-4EFF-8F1F-997AC0AD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接收操作、刷新界面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9B414-3958-4322-AD15-2A448839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3124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B"/>
          </a:solidFill>
          <a:ln xmlns:a="http://schemas.openxmlformats.org/drawingml/2006/main" w="0">
            <a:noFill/>
          </a:ln>
        </p:spPr>
      </p:sp>
      <p:sp>
        <p:nvSpPr>
          <p:cNvPr id="10" name="text-32">
            <a:extLst xmlns:a="http://schemas.openxmlformats.org/drawingml/2006/main">
              <a:ext uri="{FF2B5EF4-FFF2-40B4-BE49-F238E27FC236}">
                <a16:creationId xmlns:a16="http://schemas.microsoft.com/office/drawing/2014/main" id="{F41EA644-9A06-4579-B227-1DDC38EA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52625"/>
            <a:ext cx="2743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1" name="text-33">
            <a:extLst xmlns:a="http://schemas.openxmlformats.org/drawingml/2006/main">
              <a:ext uri="{FF2B5EF4-FFF2-40B4-BE49-F238E27FC236}">
                <a16:creationId xmlns:a16="http://schemas.microsoft.com/office/drawing/2014/main" id="{B0B25275-312E-4625-A717-C9492FDA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479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FD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FD4DF"/>
                </a:solidFill>
                <a:latin typeface="Microsoft YaHei"/>
                <a:ea typeface="Microsoft YaHei"/>
                <a:cs typeface="Microsoft YaHei"/>
              </a:rPr>
              <a:t>GameController</a:t>
            </a:r>
          </a:p>
        </p:txBody>
      </p:sp>
      <p:sp>
        <p:nvSpPr>
          <p:cNvPr id="12" name="text-34">
            <a:extLst xmlns:a="http://schemas.openxmlformats.org/drawingml/2006/main">
              <a:ext uri="{FF2B5EF4-FFF2-40B4-BE49-F238E27FC236}">
                <a16:creationId xmlns:a16="http://schemas.microsoft.com/office/drawing/2014/main" id="{CF661909-8F80-45FF-BE7D-C698C8BC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33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流程、奖励、胜负与日志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748F0-48DE-43D3-9B48-13D6AA59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3124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14" name="text-35">
            <a:extLst xmlns:a="http://schemas.openxmlformats.org/drawingml/2006/main">
              <a:ext uri="{FF2B5EF4-FFF2-40B4-BE49-F238E27FC236}">
                <a16:creationId xmlns:a16="http://schemas.microsoft.com/office/drawing/2014/main" id="{BDEFF1E0-4453-4F94-B30B-9269ED44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52625"/>
            <a:ext cx="2743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</p:txBody>
      </p:sp>
      <p:sp>
        <p:nvSpPr>
          <p:cNvPr id="15" name="text-36">
            <a:extLst xmlns:a="http://schemas.openxmlformats.org/drawingml/2006/main">
              <a:ext uri="{FF2B5EF4-FFF2-40B4-BE49-F238E27FC236}">
                <a16:creationId xmlns:a16="http://schemas.microsoft.com/office/drawing/2014/main" id="{C5CE8E18-8AD2-4612-A3EC-1C93604C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479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rPr>
              <a:t>GameModel</a:t>
            </a:r>
          </a:p>
        </p:txBody>
      </p:sp>
      <p:sp>
        <p:nvSpPr>
          <p:cNvPr id="16" name="text-37">
            <a:extLst xmlns:a="http://schemas.openxmlformats.org/drawingml/2006/main">
              <a:ext uri="{FF2B5EF4-FFF2-40B4-BE49-F238E27FC236}">
                <a16:creationId xmlns:a16="http://schemas.microsoft.com/office/drawing/2014/main" id="{E403B4A9-2A87-4C35-B287-8ED9BEFC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玩家、敌人、卡牌规则</a:t>
            </a:r>
          </a:p>
        </p:txBody>
      </p:sp>
      <p:sp>
        <p:nvSpPr>
          <p:cNvPr id="17" name="text-38">
            <a:extLst xmlns:a="http://schemas.openxmlformats.org/drawingml/2006/main">
              <a:ext uri="{FF2B5EF4-FFF2-40B4-BE49-F238E27FC236}">
                <a16:creationId xmlns:a16="http://schemas.microsoft.com/office/drawing/2014/main" id="{159D0C8B-B43A-45C0-A6B7-710C2736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rPr>
              <a:t>按钮事件 → 控制器方法 → 模型状态变化 → update()</a:t>
            </a:r>
          </a:p>
        </p:txBody>
      </p:sp>
      <p:sp>
        <p:nvSpPr>
          <p:cNvPr id="18" name="text-39">
            <a:extLst xmlns:a="http://schemas.openxmlformats.org/drawingml/2006/main">
              <a:ext uri="{FF2B5EF4-FFF2-40B4-BE49-F238E27FC236}">
                <a16:creationId xmlns:a16="http://schemas.microsoft.com/office/drawing/2014/main" id="{D27E69CF-2945-45A6-8A5F-94BBDDB6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Main 创建场景；模型不依赖 JavaFX，可独立测试</a:t>
            </a:r>
          </a:p>
        </p:txBody>
      </p:sp>
      <p:sp>
        <p:nvSpPr>
          <p:cNvPr id="19" name="text-40">
            <a:extLst xmlns:a="http://schemas.openxmlformats.org/drawingml/2006/main">
              <a:ext uri="{FF2B5EF4-FFF2-40B4-BE49-F238E27FC236}">
                <a16:creationId xmlns:a16="http://schemas.microsoft.com/office/drawing/2014/main" id="{C63CE34A-8F17-432B-8345-C00AD149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现有限制：仍暴露模型对象与可变集合，尚非严格隔离</a:t>
            </a:r>
          </a:p>
        </p:txBody>
      </p:sp>
    </p:spTree>
    <p:extLst>
      <p:ext uri="{BB962C8B-B14F-4D97-AF65-F5344CB8AC3E}">
        <p14:creationId xmlns:p14="http://schemas.microsoft.com/office/powerpoint/2010/main" val="1556978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41">
            <a:extLst xmlns:a="http://schemas.openxmlformats.org/drawingml/2006/main">
              <a:ext uri="{FF2B5EF4-FFF2-40B4-BE49-F238E27FC236}">
                <a16:creationId xmlns:a16="http://schemas.microsoft.com/office/drawing/2014/main" id="{D0D9645F-2E36-46E8-99A5-5C36C56E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卡牌通过抽象类统一行为</a:t>
            </a:r>
          </a:p>
        </p:txBody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DD9F0C00-539C-4C87-810A-27CC6C4C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09700"/>
          <a:ext xmlns:a="http://schemas.openxmlformats.org/drawingml/2006/main" cx="6534150" cy="4362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809625"/>
                <a:gridCol w="4057650"/>
              </a:tblGrid>
              <a:tr h="5453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卡牌</a:t>
                      </a:r>
                    </a:p>
                  </a:txBody>
                  <a:tcPr marL="91440" marR="91440" marT="45720" marB="45720">
                    <a:solidFill>
                      <a:srgbClr val="13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费用</a:t>
                      </a:r>
                    </a:p>
                  </a:txBody>
                  <a:tcPr marL="91440" marR="91440" marT="45720" marB="45720">
                    <a:solidFill>
                      <a:srgbClr val="13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效果</a:t>
                      </a:r>
                    </a:p>
                  </a:txBody>
                  <a:tcPr marL="91440" marR="91440" marT="45720" marB="45720">
                    <a:solidFill>
                      <a:srgbClr val="13263B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打击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点伤害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点格挡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铁斩波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点伤害 + 7 点格挡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 点伤害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城墙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点格挡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究极打击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点伤害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究极防御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点格挡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-43">
            <a:extLst xmlns:a="http://schemas.openxmlformats.org/drawingml/2006/main">
              <a:ext uri="{FF2B5EF4-FFF2-40B4-BE49-F238E27FC236}">
                <a16:creationId xmlns:a16="http://schemas.microsoft.com/office/drawing/2014/main" id="{C8396C14-1E53-4DBA-B2FC-E9D1997D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33525"/>
            <a:ext cx="394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rPr>
              <a:t>统一调用</a:t>
            </a:r>
          </a:p>
        </p:txBody>
      </p:sp>
      <p:sp>
        <p:nvSpPr>
          <p:cNvPr id="5" name="text-44">
            <a:extLst xmlns:a="http://schemas.openxmlformats.org/drawingml/2006/main">
              <a:ext uri="{FF2B5EF4-FFF2-40B4-BE49-F238E27FC236}">
                <a16:creationId xmlns:a16="http://schemas.microsoft.com/office/drawing/2014/main" id="{178174C6-0BF3-425D-8B38-9B666757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05050"/>
            <a:ext cx="3943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Card.play(player, enemy)</a:t>
            </a:r>
          </a:p>
        </p:txBody>
      </p:sp>
      <p:sp>
        <p:nvSpPr>
          <p:cNvPr id="6" name="text-45">
            <a:extLst xmlns:a="http://schemas.openxmlformats.org/drawingml/2006/main">
              <a:ext uri="{FF2B5EF4-FFF2-40B4-BE49-F238E27FC236}">
                <a16:creationId xmlns:a16="http://schemas.microsoft.com/office/drawing/2014/main" id="{41D8CA1C-7D4C-45F4-9A36-E5D31657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95675"/>
            <a:ext cx="3943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不同子类重写牌效</a:t>
            </a:r>
          </a:p>
          <a:p xmlns:a="http://schemas.openxmlformats.org/drawingml/2006/main">
            <a:pPr>
              <a:defRPr sz="2025" b="0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玩家出牌逻辑无需识别卡名</a:t>
            </a:r>
          </a:p>
        </p:txBody>
      </p:sp>
      <p:sp>
        <p:nvSpPr>
          <p:cNvPr id="7" name="text-46">
            <a:extLst xmlns:a="http://schemas.openxmlformats.org/drawingml/2006/main">
              <a:ext uri="{FF2B5EF4-FFF2-40B4-BE49-F238E27FC236}">
                <a16:creationId xmlns:a16="http://schemas.microsoft.com/office/drawing/2014/main" id="{A59C6484-00BE-4091-9175-117A7A3A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33975"/>
            <a:ext cx="39433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扩展奖励时仍需更新候选池</a:t>
            </a:r>
          </a:p>
        </p:txBody>
      </p:sp>
    </p:spTree>
    <p:extLst>
      <p:ext uri="{BB962C8B-B14F-4D97-AF65-F5344CB8AC3E}">
        <p14:creationId xmlns:p14="http://schemas.microsoft.com/office/powerpoint/2010/main" val="20477233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47">
            <a:extLst xmlns:a="http://schemas.openxmlformats.org/drawingml/2006/main">
              <a:ext uri="{FF2B5EF4-FFF2-40B4-BE49-F238E27FC236}">
                <a16:creationId xmlns:a16="http://schemas.microsoft.com/office/drawing/2014/main" id="{B6170834-4FF1-4864-BC0A-D5A0C59A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三类牌堆构成可循环的牌组</a:t>
            </a:r>
          </a:p>
        </p:txBody>
      </p:sp>
      <p:sp>
        <p:nvSpPr>
          <p:cNvPr id="2" name="text-48">
            <a:extLst xmlns:a="http://schemas.openxmlformats.org/drawingml/2006/main">
              <a:ext uri="{FF2B5EF4-FFF2-40B4-BE49-F238E27FC236}">
                <a16:creationId xmlns:a16="http://schemas.microsoft.com/office/drawing/2014/main" id="{11AFE1C2-B7B9-486F-B288-1F2A7B7D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-49">
            <a:extLst xmlns:a="http://schemas.openxmlformats.org/drawingml/2006/main">
              <a:ext uri="{FF2B5EF4-FFF2-40B4-BE49-F238E27FC236}">
                <a16:creationId xmlns:a16="http://schemas.microsoft.com/office/drawing/2014/main" id="{DAA98B5B-F282-4ED8-8398-74423214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rPr>
              <a:t>初始 10 张 = 5 打击 + 5 防御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E83E4-AF28-4A35-86E3-CAF49F44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667000"/>
            <a:ext cx="61912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E3AFB-5648-41F6-882D-5C734736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1912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616F2-2FE1-4CD5-86AD-D703195C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124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B19AF104-79FA-4258-8913-8CCB8583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52675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抽牌堆</a:t>
            </a:r>
          </a:p>
        </p:txBody>
      </p:sp>
      <p:sp>
        <p:nvSpPr>
          <p:cNvPr id="8" name="text-51">
            <a:extLst xmlns:a="http://schemas.openxmlformats.org/drawingml/2006/main">
              <a:ext uri="{FF2B5EF4-FFF2-40B4-BE49-F238E27FC236}">
                <a16:creationId xmlns:a16="http://schemas.microsoft.com/office/drawing/2014/main" id="{107C823A-DA7D-4458-9B7C-6C88940F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70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空堆时触发回收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A4CC4-41CD-4A7C-BC54-AD7CA1A3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52650"/>
            <a:ext cx="3124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10" name="text-52">
            <a:extLst xmlns:a="http://schemas.openxmlformats.org/drawingml/2006/main">
              <a:ext uri="{FF2B5EF4-FFF2-40B4-BE49-F238E27FC236}">
                <a16:creationId xmlns:a16="http://schemas.microsoft.com/office/drawing/2014/main" id="{D2E81C45-5BCA-47A6-AE79-5B73BE0F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52675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手牌</a:t>
            </a:r>
          </a:p>
        </p:txBody>
      </p:sp>
      <p:sp>
        <p:nvSpPr>
          <p:cNvPr id="11" name="text-53">
            <a:extLst xmlns:a="http://schemas.openxmlformats.org/drawingml/2006/main">
              <a:ext uri="{FF2B5EF4-FFF2-40B4-BE49-F238E27FC236}">
                <a16:creationId xmlns:a16="http://schemas.microsoft.com/office/drawing/2014/main" id="{604C2D43-697D-4E45-84FB-66D7CB6D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43250"/>
            <a:ext cx="270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每回合抽 5 张，上限 10 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2F162-9FF3-45D1-8828-F28ADC95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52650"/>
            <a:ext cx="3124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13" name="text-54">
            <a:extLst xmlns:a="http://schemas.openxmlformats.org/drawingml/2006/main">
              <a:ext uri="{FF2B5EF4-FFF2-40B4-BE49-F238E27FC236}">
                <a16:creationId xmlns:a16="http://schemas.microsoft.com/office/drawing/2014/main" id="{15D7E499-9136-4AC4-99FF-3A1E1D38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52675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弃牌堆</a:t>
            </a:r>
          </a:p>
        </p:txBody>
      </p:sp>
      <p:sp>
        <p:nvSpPr>
          <p:cNvPr id="14" name="text-55">
            <a:extLst xmlns:a="http://schemas.openxmlformats.org/drawingml/2006/main">
              <a:ext uri="{FF2B5EF4-FFF2-40B4-BE49-F238E27FC236}">
                <a16:creationId xmlns:a16="http://schemas.microsoft.com/office/drawing/2014/main" id="{D3A4BEA6-F63C-410D-B405-B7DD4F67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70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出牌或回合结束时移入</a:t>
            </a:r>
          </a:p>
        </p:txBody>
      </p:sp>
      <p:sp>
        <p:nvSpPr>
          <p:cNvPr id="15" name="text-56">
            <a:extLst xmlns:a="http://schemas.openxmlformats.org/drawingml/2006/main">
              <a:ext uri="{FF2B5EF4-FFF2-40B4-BE49-F238E27FC236}">
                <a16:creationId xmlns:a16="http://schemas.microsoft.com/office/drawing/2014/main" id="{B5B01BF9-A09E-4AE8-A62A-2F916BD7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rPr>
              <a:t>弃牌堆洗牌后回到抽牌堆，继续下一轮抽取</a:t>
            </a:r>
          </a:p>
        </p:txBody>
      </p:sp>
      <p:sp>
        <p:nvSpPr>
          <p:cNvPr id="16" name="text-57">
            <a:extLst xmlns:a="http://schemas.openxmlformats.org/drawingml/2006/main">
              <a:ext uri="{FF2B5EF4-FFF2-40B4-BE49-F238E27FC236}">
                <a16:creationId xmlns:a16="http://schemas.microsoft.com/office/drawing/2014/main" id="{6098370C-5558-4AB4-B20B-655BE186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deck 保存整副牌记录；不是流转中的第四个牌堆</a:t>
            </a:r>
          </a:p>
        </p:txBody>
      </p:sp>
    </p:spTree>
    <p:extLst>
      <p:ext uri="{BB962C8B-B14F-4D97-AF65-F5344CB8AC3E}">
        <p14:creationId xmlns:p14="http://schemas.microsoft.com/office/powerpoint/2010/main" val="4070498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58">
            <a:extLst xmlns:a="http://schemas.openxmlformats.org/drawingml/2006/main">
              <a:ext uri="{FF2B5EF4-FFF2-40B4-BE49-F238E27FC236}">
                <a16:creationId xmlns:a16="http://schemas.microsoft.com/office/drawing/2014/main" id="{57EAF103-A8E6-4225-AACB-42ACA39A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回合顺序决定格挡何时生效</a:t>
            </a:r>
          </a:p>
        </p:txBody>
      </p:sp>
      <p:sp>
        <p:nvSpPr>
          <p:cNvPr id="2" name="text-59">
            <a:extLst xmlns:a="http://schemas.openxmlformats.org/drawingml/2006/main">
              <a:ext uri="{FF2B5EF4-FFF2-40B4-BE49-F238E27FC236}">
                <a16:creationId xmlns:a16="http://schemas.microsoft.com/office/drawing/2014/main" id="{64877683-ACE2-43C2-A81F-9E096E6B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text-60">
            <a:extLst xmlns:a="http://schemas.openxmlformats.org/drawingml/2006/main">
              <a:ext uri="{FF2B5EF4-FFF2-40B4-BE49-F238E27FC236}">
                <a16:creationId xmlns:a16="http://schemas.microsoft.com/office/drawing/2014/main" id="{8605A332-0CA8-46D2-9384-B68EE510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61">
            <a:extLst xmlns:a="http://schemas.openxmlformats.org/drawingml/2006/main">
              <a:ext uri="{FF2B5EF4-FFF2-40B4-BE49-F238E27FC236}">
                <a16:creationId xmlns:a16="http://schemas.microsoft.com/office/drawing/2014/main" id="{EA98DBD3-75F3-4580-810B-52AAF427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0495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玩家结束回合</a:t>
            </a:r>
          </a:p>
        </p:txBody>
      </p:sp>
      <p:sp>
        <p:nvSpPr>
          <p:cNvPr id="5" name="text-62">
            <a:extLst xmlns:a="http://schemas.openxmlformats.org/drawingml/2006/main">
              <a:ext uri="{FF2B5EF4-FFF2-40B4-BE49-F238E27FC236}">
                <a16:creationId xmlns:a16="http://schemas.microsoft.com/office/drawing/2014/main" id="{FC304EB2-BFFE-4B3D-A157-63CE13B0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524000"/>
            <a:ext cx="6124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剩余手牌进入弃牌堆</a:t>
            </a:r>
          </a:p>
        </p:txBody>
      </p:sp>
      <p:sp>
        <p:nvSpPr>
          <p:cNvPr id="6" name="text-63">
            <a:extLst xmlns:a="http://schemas.openxmlformats.org/drawingml/2006/main">
              <a:ext uri="{FF2B5EF4-FFF2-40B4-BE49-F238E27FC236}">
                <a16:creationId xmlns:a16="http://schemas.microsoft.com/office/drawing/2014/main" id="{16F1C744-5F96-44E8-9BF2-A06857C1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-64">
            <a:extLst xmlns:a="http://schemas.openxmlformats.org/drawingml/2006/main">
              <a:ext uri="{FF2B5EF4-FFF2-40B4-BE49-F238E27FC236}">
                <a16:creationId xmlns:a16="http://schemas.microsoft.com/office/drawing/2014/main" id="{8BA78EC6-28C6-425C-937B-C705CDEA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527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敌人回合开始</a:t>
            </a:r>
          </a:p>
        </p:txBody>
      </p:sp>
      <p:sp>
        <p:nvSpPr>
          <p:cNvPr id="8" name="text-65">
            <a:extLst xmlns:a="http://schemas.openxmlformats.org/drawingml/2006/main">
              <a:ext uri="{FF2B5EF4-FFF2-40B4-BE49-F238E27FC236}">
                <a16:creationId xmlns:a16="http://schemas.microsoft.com/office/drawing/2014/main" id="{7F55C9D7-4683-4713-92A0-2AD894BF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571750"/>
            <a:ext cx="6124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清除敌人旧格挡 → 执行当前意图</a:t>
            </a:r>
          </a:p>
        </p:txBody>
      </p:sp>
      <p:sp>
        <p:nvSpPr>
          <p:cNvPr id="9" name="text-66">
            <a:extLst xmlns:a="http://schemas.openxmlformats.org/drawingml/2006/main">
              <a:ext uri="{FF2B5EF4-FFF2-40B4-BE49-F238E27FC236}">
                <a16:creationId xmlns:a16="http://schemas.microsoft.com/office/drawing/2014/main" id="{69AB9072-2C55-4E6D-B775-73AEFD29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text-67">
            <a:extLst xmlns:a="http://schemas.openxmlformats.org/drawingml/2006/main">
              <a:ext uri="{FF2B5EF4-FFF2-40B4-BE49-F238E27FC236}">
                <a16:creationId xmlns:a16="http://schemas.microsoft.com/office/drawing/2014/main" id="{FD58B8DE-55F0-475D-9C42-21696F15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0045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敌人行动完成</a:t>
            </a:r>
          </a:p>
        </p:txBody>
      </p:sp>
      <p:sp>
        <p:nvSpPr>
          <p:cNvPr id="11" name="text-68">
            <a:extLst xmlns:a="http://schemas.openxmlformats.org/drawingml/2006/main">
              <a:ext uri="{FF2B5EF4-FFF2-40B4-BE49-F238E27FC236}">
                <a16:creationId xmlns:a16="http://schemas.microsoft.com/office/drawing/2014/main" id="{41FF3529-DFBB-4789-9EBF-F930D3D9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619500"/>
            <a:ext cx="6124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生成下次意图 → 检查玩家是否存活</a:t>
            </a:r>
          </a:p>
        </p:txBody>
      </p:sp>
      <p:sp>
        <p:nvSpPr>
          <p:cNvPr id="12" name="text-69">
            <a:extLst xmlns:a="http://schemas.openxmlformats.org/drawingml/2006/main">
              <a:ext uri="{FF2B5EF4-FFF2-40B4-BE49-F238E27FC236}">
                <a16:creationId xmlns:a16="http://schemas.microsoft.com/office/drawing/2014/main" id="{1D1677BA-55E5-482D-BEE6-16A35FAC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text-70">
            <a:extLst xmlns:a="http://schemas.openxmlformats.org/drawingml/2006/main">
              <a:ext uri="{FF2B5EF4-FFF2-40B4-BE49-F238E27FC236}">
                <a16:creationId xmlns:a16="http://schemas.microsoft.com/office/drawing/2014/main" id="{5519C21E-40C1-4D13-9BC9-5F88120B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482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玩家新回合</a:t>
            </a:r>
          </a:p>
        </p:txBody>
      </p:sp>
      <p:sp>
        <p:nvSpPr>
          <p:cNvPr id="14" name="text-71">
            <a:extLst xmlns:a="http://schemas.openxmlformats.org/drawingml/2006/main">
              <a:ext uri="{FF2B5EF4-FFF2-40B4-BE49-F238E27FC236}">
                <a16:creationId xmlns:a16="http://schemas.microsoft.com/office/drawing/2014/main" id="{27ECCA49-C38A-4307-AE96-048DF543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667250"/>
            <a:ext cx="6124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恢复 3 能量 → 清玩家格挡 → 抽 5 张</a:t>
            </a:r>
          </a:p>
        </p:txBody>
      </p:sp>
    </p:spTree>
    <p:extLst>
      <p:ext uri="{BB962C8B-B14F-4D97-AF65-F5344CB8AC3E}">
        <p14:creationId xmlns:p14="http://schemas.microsoft.com/office/powerpoint/2010/main" val="10903598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72">
            <a:extLst xmlns:a="http://schemas.openxmlformats.org/drawingml/2006/main">
              <a:ext uri="{FF2B5EF4-FFF2-40B4-BE49-F238E27FC236}">
                <a16:creationId xmlns:a16="http://schemas.microsoft.com/office/drawing/2014/main" id="{499C1A91-571F-4159-A5A8-9BA1B6AC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敌人意图与四关递进配置</a:t>
            </a:r>
          </a:p>
        </p:txBody>
      </p:sp>
      <p:sp>
        <p:nvSpPr>
          <p:cNvPr id="2" name="text-73">
            <a:extLst xmlns:a="http://schemas.openxmlformats.org/drawingml/2006/main">
              <a:ext uri="{FF2B5EF4-FFF2-40B4-BE49-F238E27FC236}">
                <a16:creationId xmlns:a16="http://schemas.microsoft.com/office/drawing/2014/main" id="{AFB345A6-4B93-4518-A372-6D726167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6400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48050"/>
                <a:gridCol w="1476375"/>
                <a:gridCol w="1476375"/>
              </a:tblGrid>
              <a:tr h="7315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关卡</a:t>
                      </a:r>
                    </a:p>
                  </a:txBody>
                  <a:tcPr marL="91440" marR="91440" marT="45720" marB="45720">
                    <a:solidFill>
                      <a:srgbClr val="13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生命值</a:t>
                      </a:r>
                    </a:p>
                  </a:txBody>
                  <a:tcPr marL="91440" marR="91440" marT="45720" marB="45720">
                    <a:solidFill>
                      <a:srgbClr val="132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基础攻击</a:t>
                      </a:r>
                    </a:p>
                  </a:txBody>
                  <a:tcPr marL="91440" marR="91440" marT="45720" marB="45720">
                    <a:solidFill>
                      <a:srgbClr val="1326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 史莱姆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 骷髅士兵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 哥布林队长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 大魔王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2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74">
            <a:extLst xmlns:a="http://schemas.openxmlformats.org/drawingml/2006/main">
              <a:ext uri="{FF2B5EF4-FFF2-40B4-BE49-F238E27FC236}">
                <a16:creationId xmlns:a16="http://schemas.microsoft.com/office/drawing/2014/main" id="{ABB15A8E-887F-4D08-B247-420BF4FE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562100"/>
            <a:ext cx="4048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rPr>
              <a:t>首回合固定攻击</a:t>
            </a:r>
          </a:p>
        </p:txBody>
      </p:sp>
      <p:sp>
        <p:nvSpPr>
          <p:cNvPr id="5" name="text-75">
            <a:extLst xmlns:a="http://schemas.openxmlformats.org/drawingml/2006/main">
              <a:ext uri="{FF2B5EF4-FFF2-40B4-BE49-F238E27FC236}">
                <a16:creationId xmlns:a16="http://schemas.microsoft.com/office/drawing/2014/main" id="{B83F88AF-EB12-409C-9718-6353C387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286000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之后按概率决定意图</a:t>
            </a:r>
          </a:p>
        </p:txBody>
      </p:sp>
      <p:sp>
        <p:nvSpPr>
          <p:cNvPr id="6" name="text-76">
            <a:extLst xmlns:a="http://schemas.openxmlformats.org/drawingml/2006/main">
              <a:ext uri="{FF2B5EF4-FFF2-40B4-BE49-F238E27FC236}">
                <a16:creationId xmlns:a16="http://schemas.microsoft.com/office/drawing/2014/main" id="{4010C65D-06E2-4B8A-8DD2-78658C10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990850"/>
            <a:ext cx="4048125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70%  攻击</a:t>
            </a:r>
          </a:p>
          <a:p xmlns:a="http://schemas.openxmlformats.org/drawingml/2006/main">
            <a:pPr>
              <a:defRPr sz="285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20%  防御</a:t>
            </a:r>
          </a:p>
          <a:p xmlns:a="http://schemas.openxmlformats.org/drawingml/2006/main">
            <a:pPr>
              <a:defRPr sz="285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10%  攻防</a:t>
            </a:r>
          </a:p>
        </p:txBody>
      </p:sp>
      <p:sp>
        <p:nvSpPr>
          <p:cNvPr id="7" name="text-77">
            <a:extLst xmlns:a="http://schemas.openxmlformats.org/drawingml/2006/main">
              <a:ext uri="{FF2B5EF4-FFF2-40B4-BE49-F238E27FC236}">
                <a16:creationId xmlns:a16="http://schemas.microsoft.com/office/drawing/2014/main" id="{DAF95F01-E2DA-4599-B32D-DB3349BA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3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防御值为 6；攻防为半额攻击 + 3 格挡</a:t>
            </a:r>
          </a:p>
        </p:txBody>
      </p:sp>
    </p:spTree>
    <p:extLst>
      <p:ext uri="{BB962C8B-B14F-4D97-AF65-F5344CB8AC3E}">
        <p14:creationId xmlns:p14="http://schemas.microsoft.com/office/powerpoint/2010/main" val="4190654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78">
            <a:extLst xmlns:a="http://schemas.openxmlformats.org/drawingml/2006/main">
              <a:ext uri="{FF2B5EF4-FFF2-40B4-BE49-F238E27FC236}">
                <a16:creationId xmlns:a16="http://schemas.microsoft.com/office/drawing/2014/main" id="{23495C09-8AF6-46C3-94D2-78E232B2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奖励选择连接相邻关卡</a:t>
            </a:r>
          </a:p>
        </p:txBody>
      </p:sp>
      <p:sp>
        <p:nvSpPr>
          <p:cNvPr id="2" name="text-79">
            <a:extLst xmlns:a="http://schemas.openxmlformats.org/drawingml/2006/main">
              <a:ext uri="{FF2B5EF4-FFF2-40B4-BE49-F238E27FC236}">
                <a16:creationId xmlns:a16="http://schemas.microsoft.com/office/drawing/2014/main" id="{3BF7EE82-50EA-4005-AFCF-7F159E68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3b88bb5b04dd4"/>
          <a:stretch xmlns:a="http://schemas.openxmlformats.org/drawingml/2006/main"/>
        </p:blipFill>
        <p:spPr>
          <a:xfrm xmlns:a="http://schemas.openxmlformats.org/drawingml/2006/main">
            <a:off x="609600" y="1345036"/>
            <a:ext cx="5295900" cy="4825153"/>
          </a:xfrm>
          <a:prstGeom xmlns:a="http://schemas.openxmlformats.org/drawingml/2006/main" prst="rect">
            <a:avLst/>
          </a:prstGeom>
        </p:spPr>
      </p:pic>
      <p:sp>
        <p:nvSpPr>
          <p:cNvPr id="4" name="text-80">
            <a:extLst xmlns:a="http://schemas.openxmlformats.org/drawingml/2006/main">
              <a:ext uri="{FF2B5EF4-FFF2-40B4-BE49-F238E27FC236}">
                <a16:creationId xmlns:a16="http://schemas.microsoft.com/office/drawing/2014/main" id="{C8B79377-AF0B-4AF8-AC5E-9A1E2411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476375"/>
            <a:ext cx="513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每次从 5 种奖励取 3 种</a:t>
            </a:r>
          </a:p>
        </p:txBody>
      </p:sp>
      <p:sp>
        <p:nvSpPr>
          <p:cNvPr id="5" name="text-81">
            <a:extLst xmlns:a="http://schemas.openxmlformats.org/drawingml/2006/main">
              <a:ext uri="{FF2B5EF4-FFF2-40B4-BE49-F238E27FC236}">
                <a16:creationId xmlns:a16="http://schemas.microsoft.com/office/drawing/2014/main" id="{A79D3319-EA52-4A2D-B1C9-71D72453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924050"/>
            <a:ext cx="5133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本次选项不重复，跨关允许重复</a:t>
            </a:r>
          </a:p>
        </p:txBody>
      </p:sp>
      <p:sp>
        <p:nvSpPr>
          <p:cNvPr id="6" name="text-82">
            <a:extLst xmlns:a="http://schemas.openxmlformats.org/drawingml/2006/main">
              <a:ext uri="{FF2B5EF4-FFF2-40B4-BE49-F238E27FC236}">
                <a16:creationId xmlns:a16="http://schemas.microsoft.com/office/drawing/2014/main" id="{0B357538-49C5-4127-9093-8339CC20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09875"/>
            <a:ext cx="513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等待奖励时锁定战斗操作</a:t>
            </a:r>
          </a:p>
        </p:txBody>
      </p:sp>
      <p:sp>
        <p:nvSpPr>
          <p:cNvPr id="7" name="text-83">
            <a:extLst xmlns:a="http://schemas.openxmlformats.org/drawingml/2006/main">
              <a:ext uri="{FF2B5EF4-FFF2-40B4-BE49-F238E27FC236}">
                <a16:creationId xmlns:a16="http://schemas.microsoft.com/office/drawing/2014/main" id="{35C2C6E9-B59F-415B-96CD-CD9CFBC0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57550"/>
            <a:ext cx="5133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选择后加入牌组，并切换敌人</a:t>
            </a:r>
          </a:p>
        </p:txBody>
      </p:sp>
      <p:sp>
        <p:nvSpPr>
          <p:cNvPr id="8" name="text-84">
            <a:extLst xmlns:a="http://schemas.openxmlformats.org/drawingml/2006/main">
              <a:ext uri="{FF2B5EF4-FFF2-40B4-BE49-F238E27FC236}">
                <a16:creationId xmlns:a16="http://schemas.microsoft.com/office/drawing/2014/main" id="{E49196CB-BF76-47BC-AECB-DC399F79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143375"/>
            <a:ext cx="513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生命值保留，牌堆重洗</a:t>
            </a:r>
          </a:p>
        </p:txBody>
      </p:sp>
      <p:sp>
        <p:nvSpPr>
          <p:cNvPr id="9" name="text-85">
            <a:extLst xmlns:a="http://schemas.openxmlformats.org/drawingml/2006/main">
              <a:ext uri="{FF2B5EF4-FFF2-40B4-BE49-F238E27FC236}">
                <a16:creationId xmlns:a16="http://schemas.microsoft.com/office/drawing/2014/main" id="{C25268C5-F7F3-41C5-B00E-EB8502C6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591050"/>
            <a:ext cx="5133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最终 Boss 被击败后才整局获胜</a:t>
            </a:r>
          </a:p>
        </p:txBody>
      </p:sp>
    </p:spTree>
    <p:extLst>
      <p:ext uri="{BB962C8B-B14F-4D97-AF65-F5344CB8AC3E}">
        <p14:creationId xmlns:p14="http://schemas.microsoft.com/office/powerpoint/2010/main" val="4679417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86">
            <a:extLst xmlns:a="http://schemas.openxmlformats.org/drawingml/2006/main">
              <a:ext uri="{FF2B5EF4-FFF2-40B4-BE49-F238E27FC236}">
                <a16:creationId xmlns:a16="http://schemas.microsoft.com/office/drawing/2014/main" id="{04B32F3F-9193-48D2-8AFF-CCC1EFE2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操作校验集中在控制器入口</a:t>
            </a:r>
          </a:p>
        </p:txBody>
      </p:sp>
      <p:sp>
        <p:nvSpPr>
          <p:cNvPr id="2" name="text-87">
            <a:extLst xmlns:a="http://schemas.openxmlformats.org/drawingml/2006/main">
              <a:ext uri="{FF2B5EF4-FFF2-40B4-BE49-F238E27FC236}">
                <a16:creationId xmlns:a16="http://schemas.microsoft.com/office/drawing/2014/main" id="{C051143E-97A9-4AC9-8D9B-8DA691BA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text-88">
            <a:extLst xmlns:a="http://schemas.openxmlformats.org/drawingml/2006/main">
              <a:ext uri="{FF2B5EF4-FFF2-40B4-BE49-F238E27FC236}">
                <a16:creationId xmlns:a16="http://schemas.microsoft.com/office/drawing/2014/main" id="{58F3C8D0-6F69-4DE6-B5F6-5ECE3479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rPr>
              <a:t>控制器入口的第一道判断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CB0BF-B585-4EEA-9520-E8DA25E7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09728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3B"/>
          </a:solidFill>
          <a:ln xmlns:a="http://schemas.openxmlformats.org/drawingml/2006/main" w="0">
            <a:noFill/>
          </a:ln>
        </p:spPr>
      </p:sp>
      <p:sp>
        <p:nvSpPr>
          <p:cNvPr id="5" name="text-89">
            <a:extLst xmlns:a="http://schemas.openxmlformats.org/drawingml/2006/main">
              <a:ext uri="{FF2B5EF4-FFF2-40B4-BE49-F238E27FC236}">
                <a16:creationId xmlns:a16="http://schemas.microsoft.com/office/drawing/2014/main" id="{9685D0EC-98FF-48D7-B3E8-A8F1AF1D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431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if (!playerTurn || gameOver || rewardPending)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  return false;</a:t>
            </a:r>
          </a:p>
        </p:txBody>
      </p:sp>
      <p:sp>
        <p:nvSpPr>
          <p:cNvPr id="6" name="text-90">
            <a:extLst xmlns:a="http://schemas.openxmlformats.org/drawingml/2006/main">
              <a:ext uri="{FF2B5EF4-FFF2-40B4-BE49-F238E27FC236}">
                <a16:creationId xmlns:a16="http://schemas.microsoft.com/office/drawing/2014/main" id="{CF1CAD84-A627-4F3A-88B9-7AACE6E2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界面限制不能替代规则校验</a:t>
            </a:r>
          </a:p>
        </p:txBody>
      </p:sp>
      <p:sp>
        <p:nvSpPr>
          <p:cNvPr id="7" name="text-91">
            <a:extLst xmlns:a="http://schemas.openxmlformats.org/drawingml/2006/main">
              <a:ext uri="{FF2B5EF4-FFF2-40B4-BE49-F238E27FC236}">
                <a16:creationId xmlns:a16="http://schemas.microsoft.com/office/drawing/2014/main" id="{1FA0DD15-99FC-4D78-828D-C5EAC79E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按钮禁用之外，控制器检查状态、索引和能量</a:t>
            </a:r>
          </a:p>
        </p:txBody>
      </p:sp>
      <p:sp>
        <p:nvSpPr>
          <p:cNvPr id="8" name="text-92">
            <a:extLst xmlns:a="http://schemas.openxmlformats.org/drawingml/2006/main">
              <a:ext uri="{FF2B5EF4-FFF2-40B4-BE49-F238E27FC236}">
                <a16:creationId xmlns:a16="http://schemas.microsoft.com/office/drawing/2014/main" id="{0B48B5F5-0DB3-4956-BE4C-458EB7F7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重新开始创建全新状态</a:t>
            </a:r>
          </a:p>
        </p:txBody>
      </p:sp>
      <p:sp>
        <p:nvSpPr>
          <p:cNvPr id="9" name="text-93">
            <a:extLst xmlns:a="http://schemas.openxmlformats.org/drawingml/2006/main">
              <a:ext uri="{FF2B5EF4-FFF2-40B4-BE49-F238E27FC236}">
                <a16:creationId xmlns:a16="http://schemas.microsoft.com/office/drawing/2014/main" id="{6EBAA32E-6F7F-4DD5-8F00-4568D70B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Supplier&lt;GameController&gt; 负责重建控制器</a:t>
            </a:r>
          </a:p>
        </p:txBody>
      </p:sp>
    </p:spTree>
    <p:extLst>
      <p:ext uri="{BB962C8B-B14F-4D97-AF65-F5344CB8AC3E}">
        <p14:creationId xmlns:p14="http://schemas.microsoft.com/office/powerpoint/2010/main" val="14690953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94">
            <a:extLst xmlns:a="http://schemas.openxmlformats.org/drawingml/2006/main">
              <a:ext uri="{FF2B5EF4-FFF2-40B4-BE49-F238E27FC236}">
                <a16:creationId xmlns:a16="http://schemas.microsoft.com/office/drawing/2014/main" id="{70DDB1A3-68D4-4E46-A613-50E78167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测试揭示了通关用例的遗漏</a:t>
            </a:r>
          </a:p>
        </p:txBody>
      </p:sp>
      <p:sp>
        <p:nvSpPr>
          <p:cNvPr id="2" name="text-95">
            <a:extLst xmlns:a="http://schemas.openxmlformats.org/drawingml/2006/main">
              <a:ext uri="{FF2B5EF4-FFF2-40B4-BE49-F238E27FC236}">
                <a16:creationId xmlns:a16="http://schemas.microsoft.com/office/drawing/2014/main" id="{5479D63C-03E5-4D78-9CD8-212E95F8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text-96">
            <a:extLst xmlns:a="http://schemas.openxmlformats.org/drawingml/2006/main">
              <a:ext uri="{FF2B5EF4-FFF2-40B4-BE49-F238E27FC236}">
                <a16:creationId xmlns:a16="http://schemas.microsoft.com/office/drawing/2014/main" id="{AFB1A77D-557D-4446-B5C6-2C5C38D9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15 个执行实例</a:t>
            </a:r>
          </a:p>
        </p:txBody>
      </p:sp>
      <p:sp>
        <p:nvSpPr>
          <p:cNvPr id="4" name="text-97">
            <a:extLst xmlns:a="http://schemas.openxmlformats.org/drawingml/2006/main">
              <a:ext uri="{FF2B5EF4-FFF2-40B4-BE49-F238E27FC236}">
                <a16:creationId xmlns:a16="http://schemas.microsoft.com/office/drawing/2014/main" id="{D11C8408-E7FB-468B-9638-0E2153CF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666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rPr>
              <a:t>14 通过   /   1 失败</a:t>
            </a:r>
          </a:p>
        </p:txBody>
      </p:sp>
      <p:sp>
        <p:nvSpPr>
          <p:cNvPr id="5" name="text-98">
            <a:extLst xmlns:a="http://schemas.openxmlformats.org/drawingml/2006/main">
              <a:ext uri="{FF2B5EF4-FFF2-40B4-BE49-F238E27FC236}">
                <a16:creationId xmlns:a16="http://schemas.microsoft.com/office/drawing/2014/main" id="{22A8EC6B-31B7-48C2-9D36-D35D0819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2026-09-15 单次 Maven 测试；无错误、无跳过</a:t>
            </a:r>
          </a:p>
        </p:txBody>
      </p:sp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6F87F706-A00F-4B4D-A9AB-57E36B68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C4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C402F"/>
                </a:solidFill>
                <a:latin typeface="Microsoft YaHei"/>
                <a:ea typeface="Microsoft YaHei"/>
                <a:cs typeface="Microsoft YaHei"/>
              </a:rPr>
              <a:t>失败用例：victoryCondition</a:t>
            </a:r>
          </a:p>
        </p:txBody>
      </p:sp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EC90F195-324D-497C-8B1D-E71CAF60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遗漏 selectReward()，第一关后停在奖励等待状态</a:t>
            </a:r>
          </a:p>
        </p:txBody>
      </p:sp>
      <p:sp>
        <p:nvSpPr>
          <p:cNvPr id="8" name="text-101">
            <a:extLst xmlns:a="http://schemas.openxmlformats.org/drawingml/2006/main">
              <a:ext uri="{FF2B5EF4-FFF2-40B4-BE49-F238E27FC236}">
                <a16:creationId xmlns:a16="http://schemas.microsoft.com/office/drawing/2014/main" id="{AA64DC32-1D0B-46F9-B320-C8EEE304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后续：补奖励转移断言，控制随机源，再验证完整通关路径</a:t>
            </a:r>
          </a:p>
        </p:txBody>
      </p:sp>
    </p:spTree>
    <p:extLst>
      <p:ext uri="{BB962C8B-B14F-4D97-AF65-F5344CB8AC3E}">
        <p14:creationId xmlns:p14="http://schemas.microsoft.com/office/powerpoint/2010/main" val="1600029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02">
            <a:extLst xmlns:a="http://schemas.openxmlformats.org/drawingml/2006/main">
              <a:ext uri="{FF2B5EF4-FFF2-40B4-BE49-F238E27FC236}">
                <a16:creationId xmlns:a16="http://schemas.microsoft.com/office/drawing/2014/main" id="{94BA2A84-DB53-451E-8530-4291B0BE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演示重点是状态变化</a:t>
            </a:r>
          </a:p>
        </p:txBody>
      </p:sp>
      <p:sp>
        <p:nvSpPr>
          <p:cNvPr id="2" name="text-103">
            <a:extLst xmlns:a="http://schemas.openxmlformats.org/drawingml/2006/main">
              <a:ext uri="{FF2B5EF4-FFF2-40B4-BE49-F238E27FC236}">
                <a16:creationId xmlns:a16="http://schemas.microsoft.com/office/drawing/2014/main" id="{E9A51F8B-9F63-4517-B3B4-4F526A62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text-104">
            <a:extLst xmlns:a="http://schemas.openxmlformats.org/drawingml/2006/main">
              <a:ext uri="{FF2B5EF4-FFF2-40B4-BE49-F238E27FC236}">
                <a16:creationId xmlns:a16="http://schemas.microsoft.com/office/drawing/2014/main" id="{F79D202F-A49E-49CC-B0DE-412C2AC4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启动一局</a:t>
            </a:r>
          </a:p>
        </p:txBody>
      </p:sp>
      <p:sp>
        <p:nvSpPr>
          <p:cNvPr id="4" name="text-105">
            <a:extLst xmlns:a="http://schemas.openxmlformats.org/drawingml/2006/main">
              <a:ext uri="{FF2B5EF4-FFF2-40B4-BE49-F238E27FC236}">
                <a16:creationId xmlns:a16="http://schemas.microsoft.com/office/drawing/2014/main" id="{29AD4354-26B9-446D-9BA8-98A92545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80 HP / 3 能量 / 5 张起始手牌</a:t>
            </a:r>
          </a:p>
        </p:txBody>
      </p:sp>
      <p:sp>
        <p:nvSpPr>
          <p:cNvPr id="5" name="text-106">
            <a:extLst xmlns:a="http://schemas.openxmlformats.org/drawingml/2006/main">
              <a:ext uri="{FF2B5EF4-FFF2-40B4-BE49-F238E27FC236}">
                <a16:creationId xmlns:a16="http://schemas.microsoft.com/office/drawing/2014/main" id="{F54F24F3-B2C1-4CAD-AED9-C504EB53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出牌并结束回合</a:t>
            </a:r>
          </a:p>
        </p:txBody>
      </p:sp>
      <p:sp>
        <p:nvSpPr>
          <p:cNvPr id="6" name="text-107">
            <a:extLst xmlns:a="http://schemas.openxmlformats.org/drawingml/2006/main">
              <a:ext uri="{FF2B5EF4-FFF2-40B4-BE49-F238E27FC236}">
                <a16:creationId xmlns:a16="http://schemas.microsoft.com/office/drawing/2014/main" id="{B6927D02-DE1C-41EC-8669-C8A1EE87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观察能量、伤害、格挡和牌堆数量变化</a:t>
            </a:r>
          </a:p>
        </p:txBody>
      </p:sp>
      <p:sp>
        <p:nvSpPr>
          <p:cNvPr id="7" name="text-108">
            <a:extLst xmlns:a="http://schemas.openxmlformats.org/drawingml/2006/main">
              <a:ext uri="{FF2B5EF4-FFF2-40B4-BE49-F238E27FC236}">
                <a16:creationId xmlns:a16="http://schemas.microsoft.com/office/drawing/2014/main" id="{D83BFDAF-D41A-4FFA-861C-A3EC5780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击败第一关后选择奖励</a:t>
            </a:r>
          </a:p>
        </p:txBody>
      </p:sp>
      <p:sp>
        <p:nvSpPr>
          <p:cNvPr id="8" name="text-109">
            <a:extLst xmlns:a="http://schemas.openxmlformats.org/drawingml/2006/main">
              <a:ext uri="{FF2B5EF4-FFF2-40B4-BE49-F238E27FC236}">
                <a16:creationId xmlns:a16="http://schemas.microsoft.com/office/drawing/2014/main" id="{2B51239F-FE88-482E-B9C8-45BECEA1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进入第 2 关，牌组增加至 11 张，当前 HP 保留</a:t>
            </a:r>
          </a:p>
        </p:txBody>
      </p:sp>
      <p:sp>
        <p:nvSpPr>
          <p:cNvPr id="9" name="text-110">
            <a:extLst xmlns:a="http://schemas.openxmlformats.org/drawingml/2006/main">
              <a:ext uri="{FF2B5EF4-FFF2-40B4-BE49-F238E27FC236}">
                <a16:creationId xmlns:a16="http://schemas.microsoft.com/office/drawing/2014/main" id="{1F577B09-AE7A-4EF7-9E2A-BF455BCC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随机抽牌与敌人意图会改变过程，不承诺固定回合通关</a:t>
            </a:r>
          </a:p>
        </p:txBody>
      </p:sp>
    </p:spTree>
    <p:extLst>
      <p:ext uri="{BB962C8B-B14F-4D97-AF65-F5344CB8AC3E}">
        <p14:creationId xmlns:p14="http://schemas.microsoft.com/office/powerpoint/2010/main" val="7131215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11">
            <a:extLst xmlns:a="http://schemas.openxmlformats.org/drawingml/2006/main">
              <a:ext uri="{FF2B5EF4-FFF2-40B4-BE49-F238E27FC236}">
                <a16:creationId xmlns:a16="http://schemas.microsoft.com/office/drawing/2014/main" id="{BE888B73-349A-4650-AD73-F2998E04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后续先补验证再扩展内容</a:t>
            </a:r>
          </a:p>
        </p:txBody>
      </p:sp>
      <p:sp>
        <p:nvSpPr>
          <p:cNvPr id="2" name="text-112">
            <a:extLst xmlns:a="http://schemas.openxmlformats.org/drawingml/2006/main">
              <a:ext uri="{FF2B5EF4-FFF2-40B4-BE49-F238E27FC236}">
                <a16:creationId xmlns:a16="http://schemas.microsoft.com/office/drawing/2014/main" id="{4B4FE47A-72B2-4569-9291-71F3CDB0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text-113">
            <a:extLst xmlns:a="http://schemas.openxmlformats.org/drawingml/2006/main">
              <a:ext uri="{FF2B5EF4-FFF2-40B4-BE49-F238E27FC236}">
                <a16:creationId xmlns:a16="http://schemas.microsoft.com/office/drawing/2014/main" id="{1AD827C3-BD67-4160-ADD9-E65C1B91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82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86"/>
                </a:solidFill>
                <a:latin typeface="Microsoft YaHei"/>
                <a:ea typeface="Microsoft YaHei"/>
                <a:cs typeface="Microsoft YaHei"/>
              </a:rPr>
              <a:t>优先解决验证和维护问题</a:t>
            </a:r>
          </a:p>
        </p:txBody>
      </p:sp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D45709BC-472A-4632-B2D2-72FC2AF5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近期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1ACD54A7-6E9F-400E-AFF1-026F32F1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修正通关测试；补失败结局与格挡、洗牌边界</a:t>
            </a:r>
          </a:p>
        </p:txBody>
      </p:sp>
      <p:sp>
        <p:nvSpPr>
          <p:cNvPr id="6" name="text-116">
            <a:extLst xmlns:a="http://schemas.openxmlformats.org/drawingml/2006/main">
              <a:ext uri="{FF2B5EF4-FFF2-40B4-BE49-F238E27FC236}">
                <a16:creationId xmlns:a16="http://schemas.microsoft.com/office/drawing/2014/main" id="{2CF37500-42BB-4E34-AAA4-4ADD213C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随后</a:t>
            </a:r>
          </a:p>
        </p:txBody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02548A11-6C73-4BBB-885F-3D32FB5A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注入随机源；收紧状态访问；同步 README</a:t>
            </a:r>
          </a:p>
        </p:txBody>
      </p:sp>
      <p:sp>
        <p:nvSpPr>
          <p:cNvPr id="8" name="text-118">
            <a:extLst xmlns:a="http://schemas.openxmlformats.org/drawingml/2006/main">
              <a:ext uri="{FF2B5EF4-FFF2-40B4-BE49-F238E27FC236}">
                <a16:creationId xmlns:a16="http://schemas.microsoft.com/office/drawing/2014/main" id="{4E695F11-FBDA-4D38-8EB8-ACE77109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8"/>
                </a:solidFill>
                <a:latin typeface="Microsoft YaHei"/>
                <a:ea typeface="Microsoft YaHei"/>
                <a:cs typeface="Microsoft YaHei"/>
              </a:rPr>
              <a:t>功能扩展</a:t>
            </a:r>
          </a:p>
        </p:txBody>
      </p:sp>
      <p:sp>
        <p:nvSpPr>
          <p:cNvPr id="9" name="text-119">
            <a:extLst xmlns:a="http://schemas.openxmlformats.org/drawingml/2006/main">
              <a:ext uri="{FF2B5EF4-FFF2-40B4-BE49-F238E27FC236}">
                <a16:creationId xmlns:a16="http://schemas.microsoft.com/office/drawing/2014/main" id="{90899C81-40DE-40E1-9D4D-6970B637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7"/>
                </a:solidFill>
                <a:latin typeface="Microsoft YaHei"/>
                <a:ea typeface="Microsoft YaHei"/>
                <a:cs typeface="Microsoft YaHei"/>
              </a:rPr>
              <a:t>外置卡牌与关卡配置，再考虑存档和地图</a:t>
            </a:r>
          </a:p>
        </p:txBody>
      </p:sp>
    </p:spTree>
    <p:extLst>
      <p:ext uri="{BB962C8B-B14F-4D97-AF65-F5344CB8AC3E}">
        <p14:creationId xmlns:p14="http://schemas.microsoft.com/office/powerpoint/2010/main" val="3160397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326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20">
            <a:extLst xmlns:a="http://schemas.openxmlformats.org/drawingml/2006/main">
              <a:ext uri="{FF2B5EF4-FFF2-40B4-BE49-F238E27FC236}">
                <a16:creationId xmlns:a16="http://schemas.microsoft.com/office/drawing/2014/main" id="{FFE92EFF-D33B-4B9B-9DA8-DAB05B65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总结与答疑</a:t>
            </a:r>
          </a:p>
        </p:txBody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BAB02796-8D82-4A23-8206-3E70C9F1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C9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7C9D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text-122">
            <a:extLst xmlns:a="http://schemas.openxmlformats.org/drawingml/2006/main">
              <a:ext uri="{FF2B5EF4-FFF2-40B4-BE49-F238E27FC236}">
                <a16:creationId xmlns:a16="http://schemas.microsoft.com/office/drawing/2014/main" id="{0A6486E2-C21E-41F4-8AD0-30DAF0A0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核心战斗流程已经形成</a:t>
            </a:r>
          </a:p>
        </p:txBody>
      </p:sp>
      <p:sp>
        <p:nvSpPr>
          <p:cNvPr id="4" name="text-123">
            <a:extLst xmlns:a="http://schemas.openxmlformats.org/drawingml/2006/main">
              <a:ext uri="{FF2B5EF4-FFF2-40B4-BE49-F238E27FC236}">
                <a16:creationId xmlns:a16="http://schemas.microsoft.com/office/drawing/2014/main" id="{7E32A28B-68E4-4318-AA60-3FD7D91F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85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D1DF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D1DFE7"/>
                </a:solidFill>
                <a:latin typeface="Microsoft YaHei"/>
                <a:ea typeface="Microsoft YaHei"/>
                <a:cs typeface="Microsoft YaHei"/>
              </a:rPr>
              <a:t>卡牌多态表达效果</a:t>
            </a:r>
          </a:p>
          <a:p xmlns:a="http://schemas.openxmlformats.org/drawingml/2006/main">
            <a:pPr>
              <a:defRPr sz="2850" b="0">
                <a:solidFill>
                  <a:srgbClr val="D1DF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D1DFE7"/>
                </a:solidFill>
                <a:latin typeface="Microsoft YaHei"/>
                <a:ea typeface="Microsoft YaHei"/>
                <a:cs typeface="Microsoft YaHei"/>
              </a:rPr>
              <a:t>回合顺序管理状态</a:t>
            </a:r>
          </a:p>
          <a:p xmlns:a="http://schemas.openxmlformats.org/drawingml/2006/main">
            <a:pPr>
              <a:defRPr sz="2850" b="0">
                <a:solidFill>
                  <a:srgbClr val="D1DF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D1DFE7"/>
                </a:solidFill>
                <a:latin typeface="Microsoft YaHei"/>
                <a:ea typeface="Microsoft YaHei"/>
                <a:cs typeface="Microsoft YaHei"/>
              </a:rPr>
              <a:t>关卡奖励连接战斗</a:t>
            </a:r>
          </a:p>
        </p:txBody>
      </p:sp>
      <p:sp>
        <p:nvSpPr>
          <p:cNvPr id="5" name="text-124">
            <a:extLst xmlns:a="http://schemas.openxmlformats.org/drawingml/2006/main">
              <a:ext uri="{FF2B5EF4-FFF2-40B4-BE49-F238E27FC236}">
                <a16:creationId xmlns:a16="http://schemas.microsoft.com/office/drawing/2014/main" id="{1C0060E7-D6E3-464E-8724-2A5539DA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6AF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E6AF52"/>
                </a:solidFill>
                <a:latin typeface="Microsoft YaHei"/>
                <a:ea typeface="Microsoft YaHei"/>
                <a:cs typeface="Microsoft YaHei"/>
              </a:rPr>
              <a:t>下一步重点：让完整路径能够被稳定验证</a:t>
            </a:r>
          </a:p>
        </p:txBody>
      </p:sp>
    </p:spTree>
    <p:extLst>
      <p:ext uri="{BB962C8B-B14F-4D97-AF65-F5344CB8AC3E}">
        <p14:creationId xmlns:p14="http://schemas.microsoft.com/office/powerpoint/2010/main" val="1560224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2026-09-15T06:18:28.5800000Z</dcterms:created>
  <dcterms:modified xsi:type="dcterms:W3CDTF">2026-09-15T06:18:28.5800000Z</dcterms:modified>
</coreProperties>
</file>