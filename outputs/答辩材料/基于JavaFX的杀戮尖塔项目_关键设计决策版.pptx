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6552ef58754481" /><Relationship Type="http://schemas.openxmlformats.org/officeDocument/2006/relationships/extended-properties" Target="/docProps/app.xml" Id="R1a80c60a61374d48" /><Relationship Type="http://schemas.openxmlformats.org/officeDocument/2006/relationships/officeDocument" Target="/ppt/presentation.xml" Id="Re3a16b04fca74e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5fa0fa9561407e"/>
  </p:sldMasterIdLst>
  <p:notesMasterIdLst>
    <p:notesMasterId xmlns:r="http://schemas.openxmlformats.org/officeDocument/2006/relationships" r:id="R1d436e6aed934f7f"/>
  </p:notesMasterIdLst>
  <p:sldIdLst>
    <p:sldId xmlns:r="http://schemas.openxmlformats.org/officeDocument/2006/relationships" id="256" r:id="Rc82aa933f5a142bf"/>
    <p:sldId xmlns:r="http://schemas.openxmlformats.org/officeDocument/2006/relationships" id="257" r:id="Rd3ab1e41e1104cf6"/>
    <p:sldId xmlns:r="http://schemas.openxmlformats.org/officeDocument/2006/relationships" id="258" r:id="R6b99556046624679"/>
    <p:sldId xmlns:r="http://schemas.openxmlformats.org/officeDocument/2006/relationships" id="259" r:id="R22c9b61b045c4e35"/>
    <p:sldId xmlns:r="http://schemas.openxmlformats.org/officeDocument/2006/relationships" id="260" r:id="Rf1ae2fedc87d4983"/>
    <p:sldId xmlns:r="http://schemas.openxmlformats.org/officeDocument/2006/relationships" id="261" r:id="R40b6ac96987e466d"/>
    <p:sldId xmlns:r="http://schemas.openxmlformats.org/officeDocument/2006/relationships" id="262" r:id="R64a9352e8f1a4e29"/>
    <p:sldId xmlns:r="http://schemas.openxmlformats.org/officeDocument/2006/relationships" id="263" r:id="R3f153de82e4c4176"/>
    <p:sldId xmlns:r="http://schemas.openxmlformats.org/officeDocument/2006/relationships" id="264" r:id="R80905d3946b143da"/>
    <p:sldId xmlns:r="http://schemas.openxmlformats.org/officeDocument/2006/relationships" id="265" r:id="Rac37c97211c14d5a"/>
    <p:sldId xmlns:r="http://schemas.openxmlformats.org/officeDocument/2006/relationships" id="266" r:id="R8b8d7387962445ac"/>
    <p:sldId xmlns:r="http://schemas.openxmlformats.org/officeDocument/2006/relationships" id="267" r:id="R4f33d091476b4936"/>
    <p:sldId xmlns:r="http://schemas.openxmlformats.org/officeDocument/2006/relationships" id="268" r:id="Rfd4af63631654625"/>
    <p:sldId xmlns:r="http://schemas.openxmlformats.org/officeDocument/2006/relationships" id="269" r:id="R33d7e3f8875141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10b6453c024445" /><Relationship Type="http://schemas.openxmlformats.org/officeDocument/2006/relationships/slideMaster" Target="/ppt/slideMasters/slideMaster1.xml" Id="Re15fa0fa9561407e" /><Relationship Type="http://schemas.openxmlformats.org/officeDocument/2006/relationships/notesMaster" Target="/ppt/notesMasters/notesMaster1.xml" Id="R1d436e6aed934f7f" /><Relationship Type="http://schemas.openxmlformats.org/officeDocument/2006/relationships/presProps" Target="/ppt/presProps.xml" Id="R7547bec97f3744f6" /><Relationship Type="http://schemas.openxmlformats.org/officeDocument/2006/relationships/viewProps" Target="/ppt/viewProps.xml" Id="R485af308e7804301" /><Relationship Type="http://schemas.openxmlformats.org/officeDocument/2006/relationships/tableStyles" Target="/ppt/tableStyles.xml" Id="Refbf9aaab8f4406a" /><Relationship Type="http://schemas.openxmlformats.org/officeDocument/2006/relationships/slide" Target="/ppt/slides/slide1.xml" Id="Rc82aa933f5a142bf" /><Relationship Type="http://schemas.openxmlformats.org/officeDocument/2006/relationships/slide" Target="/ppt/slides/slide2.xml" Id="Rd3ab1e41e1104cf6" /><Relationship Type="http://schemas.openxmlformats.org/officeDocument/2006/relationships/slide" Target="/ppt/slides/slide3.xml" Id="R6b99556046624679" /><Relationship Type="http://schemas.openxmlformats.org/officeDocument/2006/relationships/slide" Target="/ppt/slides/slide4.xml" Id="R22c9b61b045c4e35" /><Relationship Type="http://schemas.openxmlformats.org/officeDocument/2006/relationships/slide" Target="/ppt/slides/slide5.xml" Id="Rf1ae2fedc87d4983" /><Relationship Type="http://schemas.openxmlformats.org/officeDocument/2006/relationships/slide" Target="/ppt/slides/slide6.xml" Id="R40b6ac96987e466d" /><Relationship Type="http://schemas.openxmlformats.org/officeDocument/2006/relationships/slide" Target="/ppt/slides/slide7.xml" Id="R64a9352e8f1a4e29" /><Relationship Type="http://schemas.openxmlformats.org/officeDocument/2006/relationships/slide" Target="/ppt/slides/slide8.xml" Id="R3f153de82e4c4176" /><Relationship Type="http://schemas.openxmlformats.org/officeDocument/2006/relationships/slide" Target="/ppt/slides/slide9.xml" Id="R80905d3946b143da" /><Relationship Type="http://schemas.openxmlformats.org/officeDocument/2006/relationships/slide" Target="/ppt/slides/slide10.xml" Id="Rac37c97211c14d5a" /><Relationship Type="http://schemas.openxmlformats.org/officeDocument/2006/relationships/slide" Target="/ppt/slides/slide11.xml" Id="R8b8d7387962445ac" /><Relationship Type="http://schemas.openxmlformats.org/officeDocument/2006/relationships/slide" Target="/ppt/slides/slide12.xml" Id="R4f33d091476b4936" /><Relationship Type="http://schemas.openxmlformats.org/officeDocument/2006/relationships/slide" Target="/ppt/slides/slide13.xml" Id="Rfd4af63631654625" /><Relationship Type="http://schemas.openxmlformats.org/officeDocument/2006/relationships/slide" Target="/ppt/slides/slide14.xml" Id="R33d7e3f8875141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4ce93adc9f4a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5b0eb74cb44d85" /><Relationship Type="http://schemas.openxmlformats.org/officeDocument/2006/relationships/notesMaster" Target="/ppt/notesMasters/notesMaster1.xml" Id="R82db2adc39424f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8d3f4a4aa2435f" /><Relationship Type="http://schemas.openxmlformats.org/officeDocument/2006/relationships/notesMaster" Target="/ppt/notesMasters/notesMaster1.xml" Id="R7cc3cf8f4c7f4d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35e5d7d9164cb6" /><Relationship Type="http://schemas.openxmlformats.org/officeDocument/2006/relationships/notesMaster" Target="/ppt/notesMasters/notesMaster1.xml" Id="Rd9cd5565960746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3126ee060a4ca1" /><Relationship Type="http://schemas.openxmlformats.org/officeDocument/2006/relationships/notesMaster" Target="/ppt/notesMasters/notesMaster1.xml" Id="Rdd984df63f2543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b5fd8bcec34909" /><Relationship Type="http://schemas.openxmlformats.org/officeDocument/2006/relationships/notesMaster" Target="/ppt/notesMasters/notesMaster1.xml" Id="R9d3f8af8033547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5b6eb4a835474e" /><Relationship Type="http://schemas.openxmlformats.org/officeDocument/2006/relationships/notesMaster" Target="/ppt/notesMasters/notesMaster1.xml" Id="R4bf00454ea4f4c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e58741ef85484f" /><Relationship Type="http://schemas.openxmlformats.org/officeDocument/2006/relationships/notesMaster" Target="/ppt/notesMasters/notesMaster1.xml" Id="R63eb4d01077e4e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682bf37f75459a" /><Relationship Type="http://schemas.openxmlformats.org/officeDocument/2006/relationships/notesMaster" Target="/ppt/notesMasters/notesMaster1.xml" Id="Rf33e0ae5c6f744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1cb525bb3a49e3" /><Relationship Type="http://schemas.openxmlformats.org/officeDocument/2006/relationships/notesMaster" Target="/ppt/notesMasters/notesMaster1.xml" Id="Ra8af86224ff54d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d28c9b18ed54f7b" /><Relationship Type="http://schemas.openxmlformats.org/officeDocument/2006/relationships/notesMaster" Target="/ppt/notesMasters/notesMaster1.xml" Id="Rcb66a58c5c4446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04bd22a8c44b96" /><Relationship Type="http://schemas.openxmlformats.org/officeDocument/2006/relationships/notesMaster" Target="/ppt/notesMasters/notesMaster1.xml" Id="R7a9e6769b23843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f8a7d3465c4a0e" /><Relationship Type="http://schemas.openxmlformats.org/officeDocument/2006/relationships/notesMaster" Target="/ppt/notesMasters/notesMaster1.xml" Id="R391d5da89789499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3648a51f71848ab" /><Relationship Type="http://schemas.openxmlformats.org/officeDocument/2006/relationships/notesMaster" Target="/ppt/notesMasters/notesMaster1.xml" Id="R9bd39158765e4a0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635bc05d46f4754" /><Relationship Type="http://schemas.openxmlformats.org/officeDocument/2006/relationships/notesMaster" Target="/ppt/notesMasters/notesMaster1.xml" Id="Recc4f010b6ea44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建议讲述：25秒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各位老师好，我是张弛。本次不按功能逐项介绍，而围绕三个设计问题展开：为什么分层，战斗流程最难在哪里，以及如何测试。讲解主要依据两份设计文档，并对照当前代码说明哪些是方案、哪些已经实现。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依据：概要设计说明书第1、2、3章；原PPT封面成员和答辩人信息原样保留。</a:t>
            </a:r>
          </a:p>
          <a:p xmlns:a="http://schemas.openxmlformats.org/drawingml/2006/main">
            <a:r>
              <a:t>参考文件：C:/Users/z1295/Desktop/第三部分-核心业务流程设计（含时序图）.docx；C:/Users/z1295/Desktop/杀戮尖塔Demo_概要设计说明书 .docx</a:t>
            </a:r>
          </a:p>
          <a:p xmlns:a="http://schemas.openxmlformats.org/drawingml/2006/main">
            <a:r>
              <a:t>代码根目录：C:/Users/z1295/IdeaProjects/slay_the_spire_04</a:t>
            </a:r>
          </a:p>
          <a:p xmlns:a="http://schemas.openxmlformats.org/drawingml/2006/main">
            <a:r>
              <a:t>本次修订：2026-09-15；测试部分区分设计方案与源码核对，未重新运行测试。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建议讲述：30秒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次汇报重点是设计理由。三层结构解决界面与规则耦合，时序设计解决状态更新顺序，测试设计则将规则变为可检查的断言。两份文档描述的是接口化单关方案，而当前代码已经扩展到四关，二者不能混为同一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依据：概要设计说明书第1—3章；核心业务流程设计3.1、3.2。</a:t>
            </a:r>
          </a:p>
          <a:p xmlns:a="http://schemas.openxmlformats.org/drawingml/2006/main">
            <a:r>
              <a:t>参考文件：C:/Users/z1295/Desktop/第三部分-核心业务流程设计（含时序图）.docx；C:/Users/z1295/Desktop/杀戮尖塔Demo_概要设计说明书 .docx</a:t>
            </a:r>
          </a:p>
          <a:p xmlns:a="http://schemas.openxmlformats.org/drawingml/2006/main">
            <a:r>
              <a:t>代码根目录：C:/Users/z1295/IdeaProjects/slay_the_spire_04</a:t>
            </a:r>
          </a:p>
          <a:p xmlns:a="http://schemas.openxmlformats.org/drawingml/2006/main">
            <a:r>
              <a:t>本次修订：2026-09-15；测试部分区分设计方案与源码核对，未重新运行测试。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建议讲述：40秒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把扣能量、计算伤害和移动卡牌都写在按钮处理函数里，更换界面和测试规则都会依赖窗口。分层后，视图只负责接收操作和显示状态，规则可以脱离JavaFX测试。保留的截图来自原PPT，展示的是当前实现，不是说明书接口方案的运行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依据：概要设计说明书第1章包结构与第5章设计小结；原PPT第3页截图。</a:t>
            </a:r>
          </a:p>
          <a:p xmlns:a="http://schemas.openxmlformats.org/drawingml/2006/main">
            <a:r>
              <a:t>参考文件：C:/Users/z1295/Desktop/第三部分-核心业务流程设计（含时序图）.docx；C:/Users/z1295/Desktop/杀戮尖塔Demo_概要设计说明书 .docx</a:t>
            </a:r>
          </a:p>
          <a:p xmlns:a="http://schemas.openxmlformats.org/drawingml/2006/main">
            <a:r>
              <a:t>代码根目录：C:/Users/z1295/IdeaProjects/slay_the_spire_04</a:t>
            </a:r>
          </a:p>
          <a:p xmlns:a="http://schemas.openxmlformats.org/drawingml/2006/main">
            <a:r>
              <a:t>本次修订：2026-09-15；测试部分区分设计方案与源码核对，未重新运行测试。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建议讲述：45秒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按变化原因划分职责：视图负责展示，控制器负责协调，模型负责战斗规则。文档进一步提出BattleGame和BattleViewPort两个接口，控制器调用接口而非具体实现。状态通过snapshot传回，再交给render。这比把所有逻辑集中在一个类更容易分别修改和测试，但也增加了抽象和维护成本。当前代码保留了MVC式包结构，却尚未实现文档中的接口与快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依据：概要设计说明书第1章、第2.1、2.2节；当前GameController.java、GameModel.java、GameView.java。</a:t>
            </a:r>
          </a:p>
          <a:p xmlns:a="http://schemas.openxmlformats.org/drawingml/2006/main">
            <a:r>
              <a:t>参考文件：C:/Users/z1295/Desktop/第三部分-核心业务流程设计（含时序图）.docx；C:/Users/z1295/Desktop/杀戮尖塔Demo_概要设计说明书 .docx</a:t>
            </a:r>
          </a:p>
          <a:p xmlns:a="http://schemas.openxmlformats.org/drawingml/2006/main">
            <a:r>
              <a:t>代码根目录：C:/Users/z1295/IdeaProjects/slay_the_spire_04</a:t>
            </a:r>
          </a:p>
          <a:p xmlns:a="http://schemas.openxmlformats.org/drawingml/2006/main">
            <a:r>
              <a:t>本次修订：2026-09-15；测试部分区分设计方案与源码核对，未重新运行测试。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建议讲述：45秒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口规定了每层允许对外做什么。模型只开放开始、出牌、结束回合和读取状态，视图端口负责回调、渲染和展示牌堆。快照的目的是防止视图直接改模型，不过只有类名叫Snapshot并不足以只读：集合需要不可变副本，可变元素也要处理。这个只读约束是实现时必须验证的设计要求，不能说已经被代码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依据：概要设计说明书第2.1节BattleSnapshot、第2.2.1节BattleGame、第2.2.2节BattleViewPort；集合保护为据此提出的实施要求。</a:t>
            </a:r>
          </a:p>
          <a:p xmlns:a="http://schemas.openxmlformats.org/drawingml/2006/main">
            <a:r>
              <a:t>参考文件：C:/Users/z1295/Desktop/第三部分-核心业务流程设计（含时序图）.docx；C:/Users/z1295/Desktop/杀戮尖塔Demo_概要设计说明书 .docx</a:t>
            </a:r>
          </a:p>
          <a:p xmlns:a="http://schemas.openxmlformats.org/drawingml/2006/main">
            <a:r>
              <a:t>代码根目录：C:/Users/z1295/IdeaProjects/slay_the_spire_04</a:t>
            </a:r>
          </a:p>
          <a:p xmlns:a="http://schemas.openxmlformats.org/drawingml/2006/main">
            <a:r>
              <a:t>本次修订：2026-09-15；测试部分区分设计方案与源码核对，未重新运行测试。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建议讲述：55秒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张图根据文档图3-1重绘。开始战斗时，视图把事件交给控制器，模型初始化、洗牌和抽牌，控制器取得快照再刷新。出牌时仍沿着同一条调用链。重点是先检查战斗状态、手牌下标和能量，再进行扣费、结算和弃牌。校验失败不能改变战斗数据，但可以更新提示。结算后必须判断胜负，再刷新状态。图中为简化后的主要消息，不是每个内部方法的逐行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依据：核心业务流程设计3.1与图3-1；概要设计说明书3.1。</a:t>
            </a:r>
          </a:p>
          <a:p xmlns:a="http://schemas.openxmlformats.org/drawingml/2006/main">
            <a:r>
              <a:t>参考文件：C:/Users/z1295/Desktop/第三部分-核心业务流程设计（含时序图）.docx；C:/Users/z1295/Desktop/杀戮尖塔Demo_概要设计说明书 .docx</a:t>
            </a:r>
          </a:p>
          <a:p xmlns:a="http://schemas.openxmlformats.org/drawingml/2006/main">
            <a:r>
              <a:t>代码根目录：C:/Users/z1295/IdeaProjects/slay_the_spire_04</a:t>
            </a:r>
          </a:p>
          <a:p xmlns:a="http://schemas.openxmlformats.org/drawingml/2006/main">
            <a:r>
              <a:t>本次修订：2026-09-15；测试部分区分设计方案与源码核对，未重新运行测试。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建议讲述：60秒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难的不是按钮，而是多个状态在一个回合里按正确顺序变化。按说明书，先弃置手牌并清掉敌人的旧格挡，再执行当前意图；玩家原有格挡必须先吸收伤害，之后才能清除。接着判断死亡，只有存活时才准备下一回合。若清挡提前，防御牌就失效；若死亡后继续抽牌，终局状态可能被后续逻辑覆盖。当前代码的清挡和意图生成位置与文档不完全相同，不能声称此页是代码逐行复现，后续需要统一规范并用测试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依据：核心业务流程设计3.2及图3-2；当前GameController.endTurn/enemyTurn/beginNewTurn与GameModel.Player.startTurn、Enemy.endTurn。</a:t>
            </a:r>
          </a:p>
          <a:p xmlns:a="http://schemas.openxmlformats.org/drawingml/2006/main">
            <a:r>
              <a:t>参考文件：C:/Users/z1295/Desktop/第三部分-核心业务流程设计（含时序图）.docx；C:/Users/z1295/Desktop/杀戮尖塔Demo_概要设计说明书 .docx</a:t>
            </a:r>
          </a:p>
          <a:p xmlns:a="http://schemas.openxmlformats.org/drawingml/2006/main">
            <a:r>
              <a:t>代码根目录：C:/Users/z1295/IdeaProjects/slay_the_spire_04</a:t>
            </a:r>
          </a:p>
          <a:p xmlns:a="http://schemas.openxmlformats.org/drawingml/2006/main">
            <a:r>
              <a:t>本次修订：2026-09-15；测试部分区分设计方案与源码核对，未重新运行测试。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建议讲述：50秒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何证明顺序和边界正确？每个用例先固定状态，再执行一个动作，最后断言完整变化。比如五点格挡承受六点伤害，最终格挡归零，生命只减少一点。能量不足和下标越界要拒绝，且牌堆与能量不能变化。致命攻击除了检查失败标记，还要检查没有继续抽牌或推进新回合。这张表是待落地和补齐的测试设计，不是本次测试通过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依据：核心业务流程设计3.1校验与3.2死亡分支；本页测试条件和预期结果为据文档推导的验证方案。</a:t>
            </a:r>
          </a:p>
          <a:p xmlns:a="http://schemas.openxmlformats.org/drawingml/2006/main">
            <a:r>
              <a:t>参考文件：C:/Users/z1295/Desktop/第三部分-核心业务流程设计（含时序图）.docx；C:/Users/z1295/Desktop/杀戮尖塔Demo_概要设计说明书 .docx</a:t>
            </a:r>
          </a:p>
          <a:p xmlns:a="http://schemas.openxmlformats.org/drawingml/2006/main">
            <a:r>
              <a:t>代码根目录：C:/Users/z1295/IdeaProjects/slay_the_spire_04</a:t>
            </a:r>
          </a:p>
          <a:p xmlns:a="http://schemas.openxmlformats.org/drawingml/2006/main">
            <a:r>
              <a:t>本次修订：2026-09-15；测试部分区分设计方案与源码核对，未重新运行测试。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建议讲述：45秒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复杂以后，仅检查一次伤害是不够的，还要检查始终成立的关系。没有增删卡效果的战斗中，手牌、抽牌堆、弃牌堆的总数应等于当前牌组数；这是流转牌堆，不把牌组模板再加一次。当前代码多关扩展还增加了奖励等待状态，在该状态下不应继续战斗。选牌成功后应检查牌组加一、关卡推进、生命保留和牌堆重整。截图仍为原PPT中的当前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依据：核心业务流程设计3.1抽牌与3.2弃牌；GameController.selectReward/onEnemyDefeated/startNextLevel；GameModel.Player.prepareForNewEncounter。</a:t>
            </a:r>
          </a:p>
          <a:p xmlns:a="http://schemas.openxmlformats.org/drawingml/2006/main">
            <a:r>
              <a:t>参考文件：C:/Users/z1295/Desktop/第三部分-核心业务流程设计（含时序图）.docx；C:/Users/z1295/Desktop/杀戮尖塔Demo_概要设计说明书 .docx</a:t>
            </a:r>
          </a:p>
          <a:p xmlns:a="http://schemas.openxmlformats.org/drawingml/2006/main">
            <a:r>
              <a:t>代码根目录：C:/Users/z1295/IdeaProjects/slay_the_spire_04</a:t>
            </a:r>
          </a:p>
          <a:p xmlns:a="http://schemas.openxmlformats.org/drawingml/2006/main">
            <a:r>
              <a:t>本次修订：2026-09-15；测试部分区分设计方案与源码核对，未重新运行测试。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建议讲述：50秒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测试分三层。第一层最重要，直接测试纯Java规则，不需要启动窗口。第二层按文档的接口方案，用假的模型记录控制器是否调用了正确方法，用假的视图检查是否收到最新快照。第三层才做界面验收，核对显示和按钮禁用。这样失败时能判断是规则问题、协调问题还是展示问题。当前代码没有这些端口，所以替身方案是接口化后的测试设计，不能直接说已经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依据：概要设计说明书第2.2节接口隔离、第5章后续完善单元测试；当前GameControllerTest.java。</a:t>
            </a:r>
          </a:p>
          <a:p xmlns:a="http://schemas.openxmlformats.org/drawingml/2006/main">
            <a:r>
              <a:t>参考文件：C:/Users/z1295/Desktop/第三部分-核心业务流程设计（含时序图）.docx；C:/Users/z1295/Desktop/杀戮尖塔Demo_概要设计说明书 .docx</a:t>
            </a:r>
          </a:p>
          <a:p xmlns:a="http://schemas.openxmlformats.org/drawingml/2006/main">
            <a:r>
              <a:t>代码根目录：C:/Users/z1295/IdeaProjects/slay_the_spire_04</a:t>
            </a:r>
          </a:p>
          <a:p xmlns:a="http://schemas.openxmlformats.org/drawingml/2006/main">
            <a:r>
              <a:t>本次修订：2026-09-15；测试部分区分设计方案与源码核对，未重新运行测试。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建议讲述：45秒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有测试里可以看到一个有代表性的问题。victoryCondition循环出牌和结束回合，却没有处理奖励选择。当前规则在击败小怪后进入rewardPending，出牌和结束回合都被拒绝，因此不能这样走到最终通关。正确办法是分段覆盖战斗、奖励等待、选择奖励、下一关和最终Boss，逐段断言。还要避免只有条件成立时才运行断言的空通过。本页结论来自本次源码核对，并没有在本次重新执行Maven测试，因此不继续展示旧通过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依据：src/test/java/org/example/controller/GameControllerTest.java：victoryCondition、noActionsAfterGameOver；src/main/java/org/example/controller/GameController.java：playCard、endTurn、selectReward。</a:t>
            </a:r>
          </a:p>
          <a:p xmlns:a="http://schemas.openxmlformats.org/drawingml/2006/main">
            <a:r>
              <a:t>参考文件：C:/Users/z1295/Desktop/第三部分-核心业务流程设计（含时序图）.docx；C:/Users/z1295/Desktop/杀戮尖塔Demo_概要设计说明书 .docx</a:t>
            </a:r>
          </a:p>
          <a:p xmlns:a="http://schemas.openxmlformats.org/drawingml/2006/main">
            <a:r>
              <a:t>代码根目录：C:/Users/z1295/IdeaProjects/slay_the_spire_04</a:t>
            </a:r>
          </a:p>
          <a:p xmlns:a="http://schemas.openxmlformats.org/drawingml/2006/main">
            <a:r>
              <a:t>本次修订：2026-09-15；测试部分区分设计方案与源码核对，未重新运行测试。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建议讲述：40秒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随机洗牌和敌方意图会让测试过程变化，所以建议注入可控制的随机源，或者为测试提供固定牌序和固定意图。规则测试用确定输入触发边界；现场演示则展示一轮攻防、状态刷新和奖励选择。演示成功不能替代失败分支测试，也不应该承诺随机流程固定几个回合就通关。当前实现尚未完成统一随机源注入，本页属于改进与验证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依据：GameModel.java中的Collections.shuffle和Enemy.rollNextIntent；概要设计说明书第5章；核心业务流程设计3.1、3.2。</a:t>
            </a:r>
          </a:p>
          <a:p xmlns:a="http://schemas.openxmlformats.org/drawingml/2006/main">
            <a:r>
              <a:t>参考文件：C:/Users/z1295/Desktop/第三部分-核心业务流程设计（含时序图）.docx；C:/Users/z1295/Desktop/杀戮尖塔Demo_概要设计说明书 .docx</a:t>
            </a:r>
          </a:p>
          <a:p xmlns:a="http://schemas.openxmlformats.org/drawingml/2006/main">
            <a:r>
              <a:t>代码根目录：C:/Users/z1295/IdeaProjects/slay_the_spire_04</a:t>
            </a:r>
          </a:p>
          <a:p xmlns:a="http://schemas.openxmlformats.org/drawingml/2006/main">
            <a:r>
              <a:t>本次修订：2026-09-15；测试部分区分设计方案与源码核对，未重新运行测试。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建议讲述：40秒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说明版本边界。说明书提出接口与快照，并描述单关、六张打击四张防御和强化攻击意图；当前代码使用GameModel及四关奖励，初始牌组为五打击五防御，敌方意图也不同。概要设计第一章的职责文字还混用了两套命名，不能因为文档最后写了与代码一致就忽略这些差异。我们应先确定以哪套规则为准，更新文档，再落实接口和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依据：概要设计说明书第1章包结构及包职责、第2章、第3章；核心业务流程设计3.1(3)、3.2(3)；GameModel.java、GameController.java。</a:t>
            </a:r>
          </a:p>
          <a:p xmlns:a="http://schemas.openxmlformats.org/drawingml/2006/main">
            <a:r>
              <a:t>参考文件：C:/Users/z1295/Desktop/第三部分-核心业务流程设计（含时序图）.docx；C:/Users/z1295/Desktop/杀戮尖塔Demo_概要设计说明书 .docx</a:t>
            </a:r>
          </a:p>
          <a:p xmlns:a="http://schemas.openxmlformats.org/drawingml/2006/main">
            <a:r>
              <a:t>代码根目录：C:/Users/z1295/IdeaProjects/slay_the_spire_04</a:t>
            </a:r>
          </a:p>
          <a:p xmlns:a="http://schemas.openxmlformats.org/drawingml/2006/main">
            <a:r>
              <a:t>本次修订：2026-09-15；测试部分区分设计方案与源码核对，未重新运行测试。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建议讲述：25秒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总结一下：分层的目的是控制修改范围，不是增加类的数量；核心难点是回合顺序和状态一致性；验证方法是固定输入、检查边界和完整状态路径。下一步优先同步文档与代码，并让这些设计真正具备可重复的测试证据。谢谢各位老师，欢迎提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依据：两份说明书与当前代码综合。</a:t>
            </a:r>
          </a:p>
          <a:p xmlns:a="http://schemas.openxmlformats.org/drawingml/2006/main">
            <a:r>
              <a:t>参考文件：C:/Users/z1295/Desktop/第三部分-核心业务流程设计（含时序图）.docx；C:/Users/z1295/Desktop/杀戮尖塔Demo_概要设计说明书 .docx</a:t>
            </a:r>
          </a:p>
          <a:p xmlns:a="http://schemas.openxmlformats.org/drawingml/2006/main">
            <a:r>
              <a:t>代码根目录：C:/Users/z1295/IdeaProjects/slay_the_spire_04</a:t>
            </a:r>
          </a:p>
          <a:p xmlns:a="http://schemas.openxmlformats.org/drawingml/2006/main">
            <a:r>
              <a:t>本次修订：2026-09-15；测试部分区分设计方案与源码核对，未重新运行测试。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0f9bcfa26b41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98cd83665b4723" /><Relationship Type="http://schemas.openxmlformats.org/officeDocument/2006/relationships/slideLayout" Target="/ppt/slideLayouts/slideLayout1.xml" Id="R9296fe62fff240e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96fe62fff240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49593c5cf4ea6" /><Relationship Type="http://schemas.openxmlformats.org/officeDocument/2006/relationships/notesSlide" Target="/ppt/notesSlides/notesSlide1.xml" Id="Rca859c6f1fb741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7860bdfa04ca7" /><Relationship Type="http://schemas.openxmlformats.org/officeDocument/2006/relationships/notesSlide" Target="/ppt/notesSlides/notesSlide2.xml" Id="R2ba5847e05c345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c34957ee94306" /><Relationship Type="http://schemas.openxmlformats.org/officeDocument/2006/relationships/image" Target="/ppt/media/image.png" Id="Rf5c958e5c5c74f14" /><Relationship Type="http://schemas.openxmlformats.org/officeDocument/2006/relationships/notesSlide" Target="/ppt/notesSlides/notesSlide3.xml" Id="R5bf59043a53d45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28874a2244da6" /><Relationship Type="http://schemas.openxmlformats.org/officeDocument/2006/relationships/notesSlide" Target="/ppt/notesSlides/notesSlide4.xml" Id="Ra451d1f102714b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aae33ff864f44" /><Relationship Type="http://schemas.openxmlformats.org/officeDocument/2006/relationships/notesSlide" Target="/ppt/notesSlides/notesSlide5.xml" Id="R72eaf39f69a544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92417c07647c5" /><Relationship Type="http://schemas.openxmlformats.org/officeDocument/2006/relationships/notesSlide" Target="/ppt/notesSlides/notesSlide6.xml" Id="R8093510cfba843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c2a6dbbc3142df" /><Relationship Type="http://schemas.openxmlformats.org/officeDocument/2006/relationships/notesSlide" Target="/ppt/notesSlides/notesSlide7.xml" Id="Red19f5d543af46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790db3a6b4a8c" /><Relationship Type="http://schemas.openxmlformats.org/officeDocument/2006/relationships/notesSlide" Target="/ppt/notesSlides/notesSlide8.xml" Id="Ra2fe1e046ba84b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59be9575d42e5" /><Relationship Type="http://schemas.openxmlformats.org/officeDocument/2006/relationships/image" Target="/ppt/media/image2.png" Id="R987ebf3d04b14eb1" /><Relationship Type="http://schemas.openxmlformats.org/officeDocument/2006/relationships/notesSlide" Target="/ppt/notesSlides/notesSlide9.xml" Id="R25d4863c78a44b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ded62a3a24972" /><Relationship Type="http://schemas.openxmlformats.org/officeDocument/2006/relationships/notesSlide" Target="/ppt/notesSlides/notesSlide10.xml" Id="R5822fd3a96564f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e8474c84248f7" /><Relationship Type="http://schemas.openxmlformats.org/officeDocument/2006/relationships/notesSlide" Target="/ppt/notesSlides/notesSlide11.xml" Id="Rf44ec631b55645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c65979b684aa7" /><Relationship Type="http://schemas.openxmlformats.org/officeDocument/2006/relationships/notesSlide" Target="/ppt/notesSlides/notesSlide12.xml" Id="Rd5e72db1466d4fe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adbee3a4c4f46" /><Relationship Type="http://schemas.openxmlformats.org/officeDocument/2006/relationships/notesSlide" Target="/ppt/notesSlides/notesSlide13.xml" Id="Re1959b84f6a0451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8491aa5624079" /><Relationship Type="http://schemas.openxmlformats.org/officeDocument/2006/relationships/notesSlide" Target="/ppt/notesSlides/notesSlide14.xml" Id="R23436fa259ec49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6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BF309B42-414B-4A73-8F7E-86F62024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B7C9D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B7C9D6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650" b="0">
              <a:solidFill>
                <a:srgbClr val="B7C9D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588E203-4D8F-4327-8570-6B8D0EDC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250" b="1">
                <a:solidFill>
                  <a:srgbClr val="E6AF52"/>
                </a:solidFill>
                <a:latin typeface="微软雅黑"/>
                <a:ea typeface="微软雅黑"/>
                <a:cs typeface="微软雅黑"/>
              </a:defRPr>
            </a:pPr>
            <a:r>
              <a:rPr sz="5250" b="1">
                <a:solidFill>
                  <a:srgbClr val="E6AF52"/>
                </a:solidFill>
                <a:latin typeface="微软雅黑"/>
                <a:ea typeface="微软雅黑"/>
                <a:cs typeface="微软雅黑"/>
              </a:rPr>
              <a:t>JavaFX</a:t>
            </a:r>
            <a:endParaRPr sz="5250" b="1">
              <a:solidFill>
                <a:srgbClr val="E6AF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193EA4F-8BD9-419D-8DBF-3D0EFA85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5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杀戮尖塔项目</a:t>
            </a:r>
            <a:endParaRPr sz="5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FDA23DF-45DD-4B2E-B5DD-0E76C64C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10287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D1DFE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D1DFE7"/>
                </a:solidFill>
                <a:latin typeface="微软雅黑"/>
                <a:ea typeface="微软雅黑"/>
                <a:cs typeface="微软雅黑"/>
              </a:rPr>
              <a:t>关键设计决策：分层理由、流程难点与测试</a:t>
            </a:r>
            <a:endParaRPr sz="2700" b="0">
              <a:solidFill>
                <a:srgbClr val="D1DFE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B216E7C-754B-4027-91BD-3AF93CA2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747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课程项目答辩 · 设计与验证</a:t>
            </a:r>
            <a:endParaRPr sz="210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-4">
            <a:extLst xmlns:a="http://schemas.openxmlformats.org/drawingml/2006/main">
              <a:ext uri="{FF2B5EF4-FFF2-40B4-BE49-F238E27FC236}">
                <a16:creationId xmlns:a16="http://schemas.microsoft.com/office/drawing/2014/main" id="{86DAB826-6905-45FB-BF07-D1EF8C39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7560"/>
            <a:ext cx="857250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小组成员：唐轶晨，吴昱霆，张弛，吴西原，房奇翔</a:t>
            </a:r>
            <a:endParaRPr sz="140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-4">
            <a:extLst xmlns:a="http://schemas.openxmlformats.org/drawingml/2006/main">
              <a:ext uri="{FF2B5EF4-FFF2-40B4-BE49-F238E27FC236}">
                <a16:creationId xmlns:a16="http://schemas.microsoft.com/office/drawing/2014/main" id="{D3138734-4B67-4C0F-8B0C-7ED1D76F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5215"/>
            <a:ext cx="857250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答辩人：</a:t>
            </a: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张弛</a:t>
            </a:r>
            <a:endParaRPr sz="140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624066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6">
            <a:extLst xmlns:a="http://schemas.openxmlformats.org/drawingml/2006/main">
              <a:ext uri="{FF2B5EF4-FFF2-40B4-BE49-F238E27FC236}">
                <a16:creationId xmlns:a16="http://schemas.microsoft.com/office/drawing/2014/main" id="{4257ED41-9EC4-4445-A9F2-227BE18B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三个问题贯穿本次答辩</a:t>
            </a:r>
            <a:endParaRPr sz="3600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ext-7">
            <a:extLst xmlns:a="http://schemas.openxmlformats.org/drawingml/2006/main">
              <a:ext uri="{FF2B5EF4-FFF2-40B4-BE49-F238E27FC236}">
                <a16:creationId xmlns:a16="http://schemas.microsoft.com/office/drawing/2014/main" id="{B18189B9-11FF-4D87-A6BB-5A7E376D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650" b="0">
              <a:solidFill>
                <a:srgbClr val="5265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-8">
            <a:extLst xmlns:a="http://schemas.openxmlformats.org/drawingml/2006/main">
              <a:ext uri="{FF2B5EF4-FFF2-40B4-BE49-F238E27FC236}">
                <a16:creationId xmlns:a16="http://schemas.microsoft.com/office/drawing/2014/main" id="{628BEA36-2CBB-4A9C-8D6E-7EA573A1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87F86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87F86"/>
                </a:solidFill>
                <a:latin typeface="微软雅黑"/>
                <a:ea typeface="微软雅黑"/>
                <a:cs typeface="微软雅黑"/>
              </a:rPr>
              <a:t>不只介绍“做了什么”，更解释“为什么这样做”</a:t>
            </a:r>
            <a:endParaRPr sz="2400" b="1">
              <a:solidFill>
                <a:srgbClr val="087F8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-9">
            <a:extLst xmlns:a="http://schemas.openxmlformats.org/drawingml/2006/main">
              <a:ext uri="{FF2B5EF4-FFF2-40B4-BE49-F238E27FC236}">
                <a16:creationId xmlns:a16="http://schemas.microsoft.com/office/drawing/2014/main" id="{239F2EFF-41E3-41B7-86AF-BFB7EBBC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30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630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6300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-10">
            <a:extLst xmlns:a="http://schemas.openxmlformats.org/drawingml/2006/main">
              <a:ext uri="{FF2B5EF4-FFF2-40B4-BE49-F238E27FC236}">
                <a16:creationId xmlns:a16="http://schemas.microsoft.com/office/drawing/2014/main" id="{52F7CD71-E94D-4A5C-8C2D-0923D02C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为什么这样分层</a:t>
            </a:r>
            <a:endParaRPr sz="2250" b="0">
              <a:solidFill>
                <a:srgbClr val="5265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-11">
            <a:extLst xmlns:a="http://schemas.openxmlformats.org/drawingml/2006/main">
              <a:ext uri="{FF2B5EF4-FFF2-40B4-BE49-F238E27FC236}">
                <a16:creationId xmlns:a16="http://schemas.microsoft.com/office/drawing/2014/main" id="{84BE0F9C-949B-4925-88D4-32C6CE9D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0505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30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630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6300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-12">
            <a:extLst xmlns:a="http://schemas.openxmlformats.org/drawingml/2006/main">
              <a:ext uri="{FF2B5EF4-FFF2-40B4-BE49-F238E27FC236}">
                <a16:creationId xmlns:a16="http://schemas.microsoft.com/office/drawing/2014/main" id="{589AC8FA-E693-49EC-9B5C-80938CC3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909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哪部分最难</a:t>
            </a:r>
            <a:endParaRPr sz="2250" b="0">
              <a:solidFill>
                <a:srgbClr val="5265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-13">
            <a:extLst xmlns:a="http://schemas.openxmlformats.org/drawingml/2006/main">
              <a:ext uri="{FF2B5EF4-FFF2-40B4-BE49-F238E27FC236}">
                <a16:creationId xmlns:a16="http://schemas.microsoft.com/office/drawing/2014/main" id="{F6DAC273-3BE3-4BB5-8705-5A32D994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0505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30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630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6300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-14">
            <a:extLst xmlns:a="http://schemas.openxmlformats.org/drawingml/2006/main">
              <a:ext uri="{FF2B5EF4-FFF2-40B4-BE49-F238E27FC236}">
                <a16:creationId xmlns:a16="http://schemas.microsoft.com/office/drawing/2014/main" id="{8CD627FC-7EE7-4696-A45C-A651D549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909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如何证明正确</a:t>
            </a:r>
            <a:endParaRPr sz="2250" b="0">
              <a:solidFill>
                <a:srgbClr val="5265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-15">
            <a:extLst xmlns:a="http://schemas.openxmlformats.org/drawingml/2006/main">
              <a:ext uri="{FF2B5EF4-FFF2-40B4-BE49-F238E27FC236}">
                <a16:creationId xmlns:a16="http://schemas.microsoft.com/office/drawing/2014/main" id="{A23178DC-C5A5-4015-978A-92B54061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设计依据</a:t>
            </a:r>
            <a:endParaRPr sz="2250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-16">
            <a:extLst xmlns:a="http://schemas.openxmlformats.org/drawingml/2006/main">
              <a:ext uri="{FF2B5EF4-FFF2-40B4-BE49-F238E27FC236}">
                <a16:creationId xmlns:a16="http://schemas.microsoft.com/office/drawing/2014/main" id="{98ED3DB5-7EB2-463D-921D-DEE09AB3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57700"/>
            <a:ext cx="9001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概要设计说明书 + 两条核心业务时序</a:t>
            </a:r>
            <a:endParaRPr sz="2175" b="0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-17">
            <a:extLst xmlns:a="http://schemas.openxmlformats.org/drawingml/2006/main">
              <a:ext uri="{FF2B5EF4-FFF2-40B4-BE49-F238E27FC236}">
                <a16:creationId xmlns:a16="http://schemas.microsoft.com/office/drawing/2014/main" id="{730F4CB3-F90B-4388-93F8-B90833B0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说明边界</a:t>
            </a:r>
            <a:endParaRPr sz="2250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text-18">
            <a:extLst xmlns:a="http://schemas.openxmlformats.org/drawingml/2006/main">
              <a:ext uri="{FF2B5EF4-FFF2-40B4-BE49-F238E27FC236}">
                <a16:creationId xmlns:a16="http://schemas.microsoft.com/office/drawing/2014/main" id="{EC30E304-58AC-4215-A7C9-D690B71F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34000"/>
            <a:ext cx="9001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以文档讲方案；以代码核对现状；测试计划不等于测试结果</a:t>
            </a:r>
            <a:endParaRPr sz="1950" b="0">
              <a:solidFill>
                <a:srgbClr val="526577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586762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9">
            <a:extLst xmlns:a="http://schemas.openxmlformats.org/drawingml/2006/main">
              <a:ext uri="{FF2B5EF4-FFF2-40B4-BE49-F238E27FC236}">
                <a16:creationId xmlns:a16="http://schemas.microsoft.com/office/drawing/2014/main" id="{6C68B598-B504-4278-BD64-46B2A5DB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为什么不能把规则写在按钮里</a:t>
            </a:r>
            <a:endParaRPr sz="3600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ext-20">
            <a:extLst xmlns:a="http://schemas.openxmlformats.org/drawingml/2006/main">
              <a:ext uri="{FF2B5EF4-FFF2-40B4-BE49-F238E27FC236}">
                <a16:creationId xmlns:a16="http://schemas.microsoft.com/office/drawing/2014/main" id="{1E602D5D-057D-4C80-8AB2-F090C038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650" b="0">
              <a:solidFill>
                <a:srgbClr val="526577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5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c958e5c5c74f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335511"/>
            <a:ext cx="5295900" cy="4825153"/>
          </a:xfrm>
          <a:prstGeom xmlns:a="http://schemas.openxmlformats.org/drawingml/2006/main" prst="rect">
            <a:avLst/>
          </a:prstGeom>
        </p:spPr>
      </p:pic>
      <p:sp>
        <p:nvSpPr>
          <p:cNvPr id="4" name="text-21">
            <a:extLst xmlns:a="http://schemas.openxmlformats.org/drawingml/2006/main">
              <a:ext uri="{FF2B5EF4-FFF2-40B4-BE49-F238E27FC236}">
                <a16:creationId xmlns:a16="http://schemas.microsoft.com/office/drawing/2014/main" id="{8D0DA148-F8C0-48E2-A863-5FB7ACB7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609725"/>
            <a:ext cx="5133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界面变化不应牵动规则</a:t>
            </a:r>
            <a:endParaRPr sz="2325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-22">
            <a:extLst xmlns:a="http://schemas.openxmlformats.org/drawingml/2006/main">
              <a:ext uri="{FF2B5EF4-FFF2-40B4-BE49-F238E27FC236}">
                <a16:creationId xmlns:a16="http://schemas.microsoft.com/office/drawing/2014/main" id="{7F5708E4-726F-4010-A0A2-7AD92CA6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057400"/>
            <a:ext cx="51339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布局、提示与动画属于 View</a:t>
            </a:r>
            <a:endParaRPr sz="1800" b="0">
              <a:solidFill>
                <a:srgbClr val="5265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-23">
            <a:extLst xmlns:a="http://schemas.openxmlformats.org/drawingml/2006/main">
              <a:ext uri="{FF2B5EF4-FFF2-40B4-BE49-F238E27FC236}">
                <a16:creationId xmlns:a16="http://schemas.microsoft.com/office/drawing/2014/main" id="{5044331B-DDA3-42F7-99C9-2CB70416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895600"/>
            <a:ext cx="5133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同一规则需要多种入口</a:t>
            </a:r>
            <a:endParaRPr sz="2325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-24">
            <a:extLst xmlns:a="http://schemas.openxmlformats.org/drawingml/2006/main">
              <a:ext uri="{FF2B5EF4-FFF2-40B4-BE49-F238E27FC236}">
                <a16:creationId xmlns:a16="http://schemas.microsoft.com/office/drawing/2014/main" id="{83691FAB-5F84-4077-BA58-E4FACAB8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343275"/>
            <a:ext cx="51339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鼠标点击与单元测试应复用出牌逻辑</a:t>
            </a:r>
            <a:endParaRPr sz="1800" b="0">
              <a:solidFill>
                <a:srgbClr val="5265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-25">
            <a:extLst xmlns:a="http://schemas.openxmlformats.org/drawingml/2006/main">
              <a:ext uri="{FF2B5EF4-FFF2-40B4-BE49-F238E27FC236}">
                <a16:creationId xmlns:a16="http://schemas.microsoft.com/office/drawing/2014/main" id="{39B89EB5-EF62-4AC6-88D8-CD796F09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181475"/>
            <a:ext cx="5133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先保证规则，再验证显示</a:t>
            </a:r>
            <a:endParaRPr sz="2325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-26">
            <a:extLst xmlns:a="http://schemas.openxmlformats.org/drawingml/2006/main">
              <a:ext uri="{FF2B5EF4-FFF2-40B4-BE49-F238E27FC236}">
                <a16:creationId xmlns:a16="http://schemas.microsoft.com/office/drawing/2014/main" id="{E6CC5CB8-D461-4E31-A474-9028ED88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629150"/>
            <a:ext cx="51339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无须启动窗口，也能验证伤害与牌堆</a:t>
            </a:r>
            <a:endParaRPr sz="1800" b="0">
              <a:solidFill>
                <a:srgbClr val="5265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revision-原 PPT 中的当前实现截图">
            <a:extLst xmlns:a="http://schemas.openxmlformats.org/drawingml/2006/main">
              <a:ext uri="{FF2B5EF4-FFF2-40B4-BE49-F238E27FC236}">
                <a16:creationId xmlns:a16="http://schemas.microsoft.com/office/drawing/2014/main" id="{E8B4798C-0DC7-4DD4-BAE9-8825578F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19750"/>
            <a:ext cx="5029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原 PPT 中的当前实现截图；用于说明界面职责</a:t>
            </a:r>
          </a:p>
        </p:txBody>
      </p:sp>
    </p:spTree>
    <p:extLst>
      <p:ext uri="{BB962C8B-B14F-4D97-AF65-F5344CB8AC3E}">
        <p14:creationId xmlns:p14="http://schemas.microsoft.com/office/powerpoint/2010/main" val="12531976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27">
            <a:extLst xmlns:a="http://schemas.openxmlformats.org/drawingml/2006/main">
              <a:ext uri="{FF2B5EF4-FFF2-40B4-BE49-F238E27FC236}">
                <a16:creationId xmlns:a16="http://schemas.microsoft.com/office/drawing/2014/main" id="{614026BD-1EAA-491D-8772-38D40FA2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分层依据：隔离变化，明确责任</a:t>
            </a:r>
            <a:endParaRPr sz="3600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ext-28">
            <a:extLst xmlns:a="http://schemas.openxmlformats.org/drawingml/2006/main">
              <a:ext uri="{FF2B5EF4-FFF2-40B4-BE49-F238E27FC236}">
                <a16:creationId xmlns:a16="http://schemas.microsoft.com/office/drawing/2014/main" id="{B7E9F4F3-8911-4CA2-A3F3-19A91C4D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650" b="0">
              <a:solidFill>
                <a:srgbClr val="5265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右箭头 2">
            <a:extLst xmlns:a="http://schemas.openxmlformats.org/drawingml/2006/main">
              <a:ext uri="{FF2B5EF4-FFF2-40B4-BE49-F238E27FC236}">
                <a16:creationId xmlns:a16="http://schemas.microsoft.com/office/drawing/2014/main" id="{93CC4F8C-6FE5-449F-A10D-544E9C12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543175"/>
            <a:ext cx="533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6"/>
          </a:solidFill>
          <a:ln xmlns:a="http://schemas.openxmlformats.org/drawingml/2006/main" w="0">
            <a:noFill/>
          </a:ln>
        </p:spPr>
      </p:sp>
      <p:sp>
        <p:nvSpPr>
          <p:cNvPr id="4" name="右箭头 3">
            <a:extLst xmlns:a="http://schemas.openxmlformats.org/drawingml/2006/main">
              <a:ext uri="{FF2B5EF4-FFF2-40B4-BE49-F238E27FC236}">
                <a16:creationId xmlns:a16="http://schemas.microsoft.com/office/drawing/2014/main" id="{13D8C628-1233-4144-B4FB-8E8CDB1E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43175"/>
            <a:ext cx="533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6"/>
          </a:solidFill>
          <a:ln xmlns:a="http://schemas.openxmlformats.org/drawingml/2006/main" w="0">
            <a:noFill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7ADCD82-CA13-448F-9D57-0D73D3E1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124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</p:sp>
      <p:sp>
        <p:nvSpPr>
          <p:cNvPr id="6" name="text-29">
            <a:extLst xmlns:a="http://schemas.openxmlformats.org/drawingml/2006/main">
              <a:ext uri="{FF2B5EF4-FFF2-40B4-BE49-F238E27FC236}">
                <a16:creationId xmlns:a16="http://schemas.microsoft.com/office/drawing/2014/main" id="{4A0151AB-665F-4D3E-85D5-2B8BB6C5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2743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View</a:t>
            </a:r>
            <a:endParaRPr sz="2625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-30">
            <a:extLst xmlns:a="http://schemas.openxmlformats.org/drawingml/2006/main">
              <a:ext uri="{FF2B5EF4-FFF2-40B4-BE49-F238E27FC236}">
                <a16:creationId xmlns:a16="http://schemas.microsoft.com/office/drawing/2014/main" id="{F813D788-2EF1-4BB8-A0DF-7A9BADB5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87F86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087F86"/>
                </a:solidFill>
                <a:latin typeface="微软雅黑"/>
                <a:ea typeface="微软雅黑"/>
                <a:cs typeface="微软雅黑"/>
              </a:rPr>
              <a:t>BattleView</a:t>
            </a:r>
            <a:endParaRPr sz="1725" b="0">
              <a:solidFill>
                <a:srgbClr val="087F8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-31">
            <a:extLst xmlns:a="http://schemas.openxmlformats.org/drawingml/2006/main">
              <a:ext uri="{FF2B5EF4-FFF2-40B4-BE49-F238E27FC236}">
                <a16:creationId xmlns:a16="http://schemas.microsoft.com/office/drawing/2014/main" id="{7161EA2C-A93F-40D5-BBED-7E9971F4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渲染状态，不计算伤害</a:t>
            </a:r>
            <a:endParaRPr sz="1725" b="0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3A70578-700F-471B-95C8-C245BFAE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52600"/>
            <a:ext cx="3124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3B"/>
          </a:solidFill>
          <a:ln xmlns:a="http://schemas.openxmlformats.org/drawingml/2006/main" w="0">
            <a:noFill/>
          </a:ln>
        </p:spPr>
      </p:sp>
      <p:sp>
        <p:nvSpPr>
          <p:cNvPr id="10" name="text-32">
            <a:extLst xmlns:a="http://schemas.openxmlformats.org/drawingml/2006/main">
              <a:ext uri="{FF2B5EF4-FFF2-40B4-BE49-F238E27FC236}">
                <a16:creationId xmlns:a16="http://schemas.microsoft.com/office/drawing/2014/main" id="{8B3695AB-177A-4924-87AF-BCFB69EA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952625"/>
            <a:ext cx="2743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Controller</a:t>
            </a:r>
            <a:endParaRPr sz="26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-33">
            <a:extLst xmlns:a="http://schemas.openxmlformats.org/drawingml/2006/main">
              <a:ext uri="{FF2B5EF4-FFF2-40B4-BE49-F238E27FC236}">
                <a16:creationId xmlns:a16="http://schemas.microsoft.com/office/drawing/2014/main" id="{4F2D985A-0093-44C9-AF1C-F8BEC97F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479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BFD4D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BFD4DF"/>
                </a:solidFill>
                <a:latin typeface="微软雅黑"/>
                <a:ea typeface="微软雅黑"/>
                <a:cs typeface="微软雅黑"/>
              </a:rPr>
              <a:t>GameController</a:t>
            </a:r>
            <a:endParaRPr sz="1725" b="0">
              <a:solidFill>
                <a:srgbClr val="BFD4D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-34">
            <a:extLst xmlns:a="http://schemas.openxmlformats.org/drawingml/2006/main">
              <a:ext uri="{FF2B5EF4-FFF2-40B4-BE49-F238E27FC236}">
                <a16:creationId xmlns:a16="http://schemas.microsoft.com/office/drawing/2014/main" id="{BA7011D9-7A3E-45FA-854F-2C6A2DB7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337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绑定事件，协调调用</a:t>
            </a:r>
            <a:endParaRPr sz="17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7E36D43-4975-42C5-B647-E39FE4C6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52600"/>
            <a:ext cx="3124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</p:sp>
      <p:sp>
        <p:nvSpPr>
          <p:cNvPr id="14" name="text-35">
            <a:extLst xmlns:a="http://schemas.openxmlformats.org/drawingml/2006/main">
              <a:ext uri="{FF2B5EF4-FFF2-40B4-BE49-F238E27FC236}">
                <a16:creationId xmlns:a16="http://schemas.microsoft.com/office/drawing/2014/main" id="{1E09B86A-6594-4560-A38D-D2076E75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52625"/>
            <a:ext cx="2743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Model</a:t>
            </a:r>
            <a:endParaRPr sz="2625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-36">
            <a:extLst xmlns:a="http://schemas.openxmlformats.org/drawingml/2006/main">
              <a:ext uri="{FF2B5EF4-FFF2-40B4-BE49-F238E27FC236}">
                <a16:creationId xmlns:a16="http://schemas.microsoft.com/office/drawing/2014/main" id="{4D37070A-53B8-4502-B1FD-C7EB15B4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479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087F8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087F86"/>
                </a:solidFill>
                <a:latin typeface="微软雅黑"/>
                <a:ea typeface="微软雅黑"/>
                <a:cs typeface="微软雅黑"/>
              </a:rPr>
              <a:t>DefaultBattleGame</a:t>
            </a:r>
            <a:endParaRPr sz="1725" b="0">
              <a:solidFill>
                <a:srgbClr val="087F8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-37">
            <a:extLst xmlns:a="http://schemas.openxmlformats.org/drawingml/2006/main">
              <a:ext uri="{FF2B5EF4-FFF2-40B4-BE49-F238E27FC236}">
                <a16:creationId xmlns:a16="http://schemas.microsoft.com/office/drawing/2014/main" id="{8BCBA3C6-69F8-4871-92CA-785079AE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37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维护状态，执行规则</a:t>
            </a:r>
            <a:endParaRPr sz="1725" b="0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-38">
            <a:extLst xmlns:a="http://schemas.openxmlformats.org/drawingml/2006/main">
              <a:ext uri="{FF2B5EF4-FFF2-40B4-BE49-F238E27FC236}">
                <a16:creationId xmlns:a16="http://schemas.microsoft.com/office/drawing/2014/main" id="{285BDDED-300D-4AC6-A06B-BD6189FE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87F86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087F86"/>
                </a:solidFill>
                <a:latin typeface="微软雅黑"/>
                <a:ea typeface="微软雅黑"/>
                <a:cs typeface="微软雅黑"/>
              </a:rPr>
              <a:t>事件 → BattleGame 操作 → snapshot() → render(state)</a:t>
            </a:r>
            <a:endParaRPr sz="2250" b="1">
              <a:solidFill>
                <a:srgbClr val="087F8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text-39">
            <a:extLst xmlns:a="http://schemas.openxmlformats.org/drawingml/2006/main">
              <a:ext uri="{FF2B5EF4-FFF2-40B4-BE49-F238E27FC236}">
                <a16:creationId xmlns:a16="http://schemas.microsoft.com/office/drawing/2014/main" id="{49C32CB6-1167-49E6-B2FA-59EBFCD3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BattleViewPort 隔离具体视图；规则可脱离窗口测试</a:t>
            </a:r>
            <a:endParaRPr sz="2025" b="0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text-40">
            <a:extLst xmlns:a="http://schemas.openxmlformats.org/drawingml/2006/main">
              <a:ext uri="{FF2B5EF4-FFF2-40B4-BE49-F238E27FC236}">
                <a16:creationId xmlns:a16="http://schemas.microsoft.com/office/drawing/2014/main" id="{EA2FFBC5-064A-4555-B9F4-9B1891DB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文档方案；当前代码仍直接暴露模型，接口与快照尚未落地</a:t>
            </a:r>
            <a:endParaRPr sz="1800" b="0">
              <a:solidFill>
                <a:srgbClr val="526577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1785889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41">
            <a:extLst xmlns:a="http://schemas.openxmlformats.org/drawingml/2006/main">
              <a:ext uri="{FF2B5EF4-FFF2-40B4-BE49-F238E27FC236}">
                <a16:creationId xmlns:a16="http://schemas.microsoft.com/office/drawing/2014/main" id="{658507A1-B161-40AC-823E-6CC4D5FA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接口与快照：限制“能调用什么”</a:t>
            </a:r>
            <a:endParaRPr sz="3600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ext-42">
            <a:extLst xmlns:a="http://schemas.openxmlformats.org/drawingml/2006/main">
              <a:ext uri="{FF2B5EF4-FFF2-40B4-BE49-F238E27FC236}">
                <a16:creationId xmlns:a16="http://schemas.microsoft.com/office/drawing/2014/main" id="{5BE1F1D0-0E45-4714-BC27-25DF7583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05</a:t>
            </a:r>
            <a:endParaRPr sz="1650" b="0">
              <a:solidFill>
                <a:srgbClr val="526577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2" name="表格 9"/>
          <p:cNvGraphicFramePr/>
          <p:nvPr/>
        </p:nvGraphicFramePr>
        <p:xfrm>
          <a:off xmlns:a="http://schemas.openxmlformats.org/drawingml/2006/main" x="609600" y="1409700"/>
          <a:ext xmlns:a="http://schemas.openxmlformats.org/drawingml/2006/main" cx="6534150" cy="4362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000125"/>
                <a:gridCol w="3438525"/>
              </a:tblGrid>
              <a:tr h="54530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操作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>
                    <a:solidFill>
                      <a:srgbClr val="132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边界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>
                    <a:solidFill>
                      <a:srgbClr val="132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对外责任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>
                    <a:solidFill>
                      <a:srgbClr val="13263B"/>
                    </a:solidFill>
                  </a:tcPr>
                </a:tc>
              </a:tr>
              <a:tr h="54530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2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start()</a:t>
                      </a:r>
                      <a:endParaRPr sz="1725" b="0">
                        <a:solidFill>
                          <a:srgbClr val="18324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2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模型端</a:t>
                      </a:r>
                      <a:endParaRPr sz="1725" b="0">
                        <a:solidFill>
                          <a:srgbClr val="18324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2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重置并开始战斗</a:t>
                      </a:r>
                      <a:endParaRPr sz="1725" b="0">
                        <a:solidFill>
                          <a:srgbClr val="18324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54530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2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playCard(i)</a:t>
                      </a:r>
                      <a:endParaRPr sz="1725" b="0">
                        <a:solidFill>
                          <a:srgbClr val="18324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2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模型端</a:t>
                      </a:r>
                      <a:endParaRPr sz="1725" b="0">
                        <a:solidFill>
                          <a:srgbClr val="18324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2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校验并结算出牌</a:t>
                      </a:r>
                      <a:endParaRPr sz="1725" b="0">
                        <a:solidFill>
                          <a:srgbClr val="18324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530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2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endTurn()</a:t>
                      </a:r>
                      <a:endParaRPr sz="1725" b="0">
                        <a:solidFill>
                          <a:srgbClr val="18324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2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模型端</a:t>
                      </a:r>
                      <a:endParaRPr sz="1725" b="0">
                        <a:solidFill>
                          <a:srgbClr val="18324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2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完成回合状态迁移</a:t>
                      </a:r>
                      <a:endParaRPr sz="1725" b="0">
                        <a:solidFill>
                          <a:srgbClr val="18324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54530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2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snapshot()</a:t>
                      </a:r>
                      <a:endParaRPr sz="1725" b="0">
                        <a:solidFill>
                          <a:srgbClr val="18324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2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模型端</a:t>
                      </a:r>
                      <a:endParaRPr sz="1725" b="0">
                        <a:solidFill>
                          <a:srgbClr val="18324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2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提供只读状态</a:t>
                      </a:r>
                      <a:endParaRPr sz="1725" b="0">
                        <a:solidFill>
                          <a:srgbClr val="18324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530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2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setOn…()</a:t>
                      </a:r>
                      <a:endParaRPr sz="1725" b="0">
                        <a:solidFill>
                          <a:srgbClr val="18324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2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视图端</a:t>
                      </a:r>
                      <a:endParaRPr sz="1725" b="0">
                        <a:solidFill>
                          <a:srgbClr val="18324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2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绑定操作回调</a:t>
                      </a:r>
                      <a:endParaRPr sz="1725" b="0">
                        <a:solidFill>
                          <a:srgbClr val="18324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54530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2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render(state)</a:t>
                      </a:r>
                      <a:endParaRPr sz="1725" b="0">
                        <a:solidFill>
                          <a:srgbClr val="18324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2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视图端</a:t>
                      </a:r>
                      <a:endParaRPr sz="1725" b="0">
                        <a:solidFill>
                          <a:srgbClr val="18324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2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根据快照刷新界面</a:t>
                      </a:r>
                      <a:endParaRPr sz="1725" b="0">
                        <a:solidFill>
                          <a:srgbClr val="18324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530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2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showPile(…)</a:t>
                      </a:r>
                      <a:endParaRPr sz="1725" b="0">
                        <a:solidFill>
                          <a:srgbClr val="18324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2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视图端</a:t>
                      </a:r>
                      <a:endParaRPr sz="1725" b="0">
                        <a:solidFill>
                          <a:srgbClr val="18324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2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展示牌堆内容</a:t>
                      </a:r>
                      <a:endParaRPr sz="1725" b="0">
                        <a:solidFill>
                          <a:srgbClr val="18324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-43">
            <a:extLst xmlns:a="http://schemas.openxmlformats.org/drawingml/2006/main">
              <a:ext uri="{FF2B5EF4-FFF2-40B4-BE49-F238E27FC236}">
                <a16:creationId xmlns:a16="http://schemas.microsoft.com/office/drawing/2014/main" id="{404F0D56-4B02-40BC-B6E0-F91AACDC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33525"/>
            <a:ext cx="394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87F86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087F86"/>
                </a:solidFill>
                <a:latin typeface="微软雅黑"/>
                <a:ea typeface="微软雅黑"/>
                <a:cs typeface="微软雅黑"/>
              </a:rPr>
              <a:t>为什么不用具体类</a:t>
            </a:r>
            <a:endParaRPr sz="2475" b="1">
              <a:solidFill>
                <a:srgbClr val="087F8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-44">
            <a:extLst xmlns:a="http://schemas.openxmlformats.org/drawingml/2006/main">
              <a:ext uri="{FF2B5EF4-FFF2-40B4-BE49-F238E27FC236}">
                <a16:creationId xmlns:a16="http://schemas.microsoft.com/office/drawing/2014/main" id="{2B97ACE3-0681-4B1F-944D-9A3A5C9C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05050"/>
            <a:ext cx="39433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可用替身替换模型或视图</a:t>
            </a:r>
            <a:endParaRPr sz="2100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  <a:defRPr sz="2025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单独验证控制器的调用</a:t>
            </a:r>
            <a:endParaRPr sz="2100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-45">
            <a:extLst xmlns:a="http://schemas.openxmlformats.org/drawingml/2006/main">
              <a:ext uri="{FF2B5EF4-FFF2-40B4-BE49-F238E27FC236}">
                <a16:creationId xmlns:a16="http://schemas.microsoft.com/office/drawing/2014/main" id="{C9E43708-B183-42AF-AE93-3C237378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95675"/>
            <a:ext cx="39433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为什么不直接返回模型</a:t>
            </a:r>
            <a:endParaRPr sz="2025" b="0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  <a:defRPr sz="2025" b="0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避免视图绕过规则改状态</a:t>
            </a:r>
            <a:endParaRPr sz="2025" b="0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-46">
            <a:extLst xmlns:a="http://schemas.openxmlformats.org/drawingml/2006/main">
              <a:ext uri="{FF2B5EF4-FFF2-40B4-BE49-F238E27FC236}">
                <a16:creationId xmlns:a16="http://schemas.microsoft.com/office/drawing/2014/main" id="{8F11DA9B-3355-4D06-8FFC-C642C8D1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133975"/>
            <a:ext cx="39433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代价：增加接口和快照维护</a:t>
            </a:r>
            <a:endParaRPr sz="1800" b="0">
              <a:solidFill>
                <a:srgbClr val="526577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  <a:defRPr sz="172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只读性还需复制与不可变约束</a:t>
            </a:r>
            <a:endParaRPr sz="1800" b="0">
              <a:solidFill>
                <a:srgbClr val="526577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8397722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47">
            <a:extLst xmlns:a="http://schemas.openxmlformats.org/drawingml/2006/main">
              <a:ext uri="{FF2B5EF4-FFF2-40B4-BE49-F238E27FC236}">
                <a16:creationId xmlns:a16="http://schemas.microsoft.com/office/drawing/2014/main" id="{327A85DD-C214-4BAD-AF62-47AF0569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出牌时序：先校验，再改变状态</a:t>
            </a:r>
            <a:endParaRPr sz="3600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ext-48">
            <a:extLst xmlns:a="http://schemas.openxmlformats.org/drawingml/2006/main">
              <a:ext uri="{FF2B5EF4-FFF2-40B4-BE49-F238E27FC236}">
                <a16:creationId xmlns:a16="http://schemas.microsoft.com/office/drawing/2014/main" id="{2767263A-20BC-415A-8926-17406EFB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06</a:t>
            </a:r>
            <a:endParaRPr sz="1650" b="0">
              <a:solidFill>
                <a:srgbClr val="5265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5E8CEA-C7BB-4563-AEBF-33A5C0CE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90650"/>
            <a:ext cx="304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</p:sp>
      <p:sp>
        <p:nvSpPr>
          <p:cNvPr id="19" name="revision-BattleView">
            <a:extLst xmlns:a="http://schemas.openxmlformats.org/drawingml/2006/main">
              <a:ext uri="{FF2B5EF4-FFF2-40B4-BE49-F238E27FC236}">
                <a16:creationId xmlns:a16="http://schemas.microsoft.com/office/drawing/2014/main" id="{4F08B2E8-D7D3-4B17-B3B5-224D770F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50495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BattleView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509AB9-6A49-4B35-B650-2409A5BF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028825"/>
            <a:ext cx="19050" cy="3209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4D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7CBF21-DD5F-45BF-AB33-05E2386D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90650"/>
            <a:ext cx="304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</p:sp>
      <p:sp>
        <p:nvSpPr>
          <p:cNvPr id="22" name="revision-GameController">
            <a:extLst xmlns:a="http://schemas.openxmlformats.org/drawingml/2006/main">
              <a:ext uri="{FF2B5EF4-FFF2-40B4-BE49-F238E27FC236}">
                <a16:creationId xmlns:a16="http://schemas.microsoft.com/office/drawing/2014/main" id="{6F699CC0-3ECC-4B41-B75D-5764F178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0495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GameController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36AC99-FF64-4877-AF1D-9839B7BC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028825"/>
            <a:ext cx="19050" cy="3209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4D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00DC60-1D25-427B-93DA-CB707BC8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390650"/>
            <a:ext cx="304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</p:sp>
      <p:sp>
        <p:nvSpPr>
          <p:cNvPr id="25" name="revision-DefaultBattleG">
            <a:extLst xmlns:a="http://schemas.openxmlformats.org/drawingml/2006/main">
              <a:ext uri="{FF2B5EF4-FFF2-40B4-BE49-F238E27FC236}">
                <a16:creationId xmlns:a16="http://schemas.microsoft.com/office/drawing/2014/main" id="{9DCC44CE-ABB8-4F15-A45A-3B11A269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50495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DefaultBattleGame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E6EE51-FF86-43B4-AF99-DAF9B07E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028825"/>
            <a:ext cx="19050" cy="3209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4D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874B1E-C6D3-4735-BF5E-5332CCDD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28875"/>
            <a:ext cx="3857625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6"/>
          </a:solidFill>
          <a:ln xmlns:a="http://schemas.openxmlformats.org/drawingml/2006/main" w="0">
            <a:noFill/>
          </a:ln>
        </p:spPr>
      </p:sp>
      <p:sp>
        <p:nvSpPr>
          <p:cNvPr id="28" name="revision-① 开始 / 重新开始">
            <a:extLst xmlns:a="http://schemas.openxmlformats.org/drawingml/2006/main">
              <a:ext uri="{FF2B5EF4-FFF2-40B4-BE49-F238E27FC236}">
                <a16:creationId xmlns:a16="http://schemas.microsoft.com/office/drawing/2014/main" id="{CE7DCFCA-74EB-413F-9CB1-60F496FC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133600"/>
            <a:ext cx="3590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① 开始 / 重新开始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92B809-9AD3-4074-B62C-59AAAF86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09875"/>
            <a:ext cx="3857625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6"/>
          </a:solidFill>
          <a:ln xmlns:a="http://schemas.openxmlformats.org/drawingml/2006/main" w="0">
            <a:noFill/>
          </a:ln>
        </p:spPr>
      </p:sp>
      <p:sp>
        <p:nvSpPr>
          <p:cNvPr id="30" name="revision-② start()：初始化、">
            <a:extLst xmlns:a="http://schemas.openxmlformats.org/drawingml/2006/main">
              <a:ext uri="{FF2B5EF4-FFF2-40B4-BE49-F238E27FC236}">
                <a16:creationId xmlns:a16="http://schemas.microsoft.com/office/drawing/2014/main" id="{58A7B0CF-7CA6-448A-9325-5B6C87FB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14600"/>
            <a:ext cx="3590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② start()：初始化、洗牌、抽牌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E592D1-FFB1-4D94-83AA-8CEFBDA8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14700"/>
            <a:ext cx="3857625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087F86"/>
          </a:solidFill>
          <a:ln xmlns:a="http://schemas.openxmlformats.org/drawingml/2006/main" w="0">
            <a:noFill/>
          </a:ln>
        </p:spPr>
      </p:sp>
      <p:sp>
        <p:nvSpPr>
          <p:cNvPr id="32" name="revision-③ snapshot() 返">
            <a:extLst xmlns:a="http://schemas.openxmlformats.org/drawingml/2006/main">
              <a:ext uri="{FF2B5EF4-FFF2-40B4-BE49-F238E27FC236}">
                <a16:creationId xmlns:a16="http://schemas.microsoft.com/office/drawing/2014/main" id="{ADA2E82D-2D35-4BA3-B4C1-563C91A4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19425"/>
            <a:ext cx="3590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③ snapshot() 返回状态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7AFBFA-8130-4DEC-9662-8767D352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733800"/>
            <a:ext cx="3857625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087F86"/>
          </a:solidFill>
          <a:ln xmlns:a="http://schemas.openxmlformats.org/drawingml/2006/main" w="0">
            <a:noFill/>
          </a:ln>
        </p:spPr>
      </p:sp>
      <p:sp>
        <p:nvSpPr>
          <p:cNvPr id="34" name="revision-④ render(state">
            <a:extLst xmlns:a="http://schemas.openxmlformats.org/drawingml/2006/main">
              <a:ext uri="{FF2B5EF4-FFF2-40B4-BE49-F238E27FC236}">
                <a16:creationId xmlns:a16="http://schemas.microsoft.com/office/drawing/2014/main" id="{601E5187-9ED1-40BD-99F0-4F5E58D0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438525"/>
            <a:ext cx="3590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④ render(state)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FC03CD-46FB-4D3A-8813-32AA956F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324350"/>
            <a:ext cx="3857625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6"/>
          </a:solidFill>
          <a:ln xmlns:a="http://schemas.openxmlformats.org/drawingml/2006/main" w="0">
            <a:noFill/>
          </a:ln>
        </p:spPr>
      </p:sp>
      <p:sp>
        <p:nvSpPr>
          <p:cNvPr id="36" name="revision-⑤ 玩家点击：手牌下标">
            <a:extLst xmlns:a="http://schemas.openxmlformats.org/drawingml/2006/main">
              <a:ext uri="{FF2B5EF4-FFF2-40B4-BE49-F238E27FC236}">
                <a16:creationId xmlns:a16="http://schemas.microsoft.com/office/drawing/2014/main" id="{E05E4248-0F46-45B1-8328-64164E2E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29075"/>
            <a:ext cx="3590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⑤ 玩家点击：手牌下标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48461B-05EB-4F65-B6D1-AB3EF9FE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24400"/>
            <a:ext cx="3857625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6"/>
          </a:solidFill>
          <a:ln xmlns:a="http://schemas.openxmlformats.org/drawingml/2006/main" w="0">
            <a:noFill/>
          </a:ln>
        </p:spPr>
      </p:sp>
      <p:sp>
        <p:nvSpPr>
          <p:cNvPr id="38" name="revision-⑥ playCard(ind">
            <a:extLst xmlns:a="http://schemas.openxmlformats.org/drawingml/2006/main">
              <a:ext uri="{FF2B5EF4-FFF2-40B4-BE49-F238E27FC236}">
                <a16:creationId xmlns:a16="http://schemas.microsoft.com/office/drawing/2014/main" id="{E93C7C92-8ED0-42D2-A11D-BCDCCFD2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29125"/>
            <a:ext cx="3590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⑥ playCard(index)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4E75A7-3473-418D-8F94-B0684431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728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</p:sp>
      <p:sp>
        <p:nvSpPr>
          <p:cNvPr id="40" name="revision-规则模型：检查状态 → 检查">
            <a:extLst xmlns:a="http://schemas.openxmlformats.org/drawingml/2006/main">
              <a:ext uri="{FF2B5EF4-FFF2-40B4-BE49-F238E27FC236}">
                <a16:creationId xmlns:a16="http://schemas.microsoft.com/office/drawing/2014/main" id="{98DED1C0-A592-46EA-B9C6-324B2245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10629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8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87F86"/>
                </a:solidFill>
                <a:latin typeface="微软雅黑"/>
                <a:ea typeface="微软雅黑"/>
                <a:cs typeface="微软雅黑"/>
              </a:rPr>
              <a:t>规则模型：检查状态 → 检查索引 → 检查能量 → 扣费、牌效、弃牌、胜负判定</a:t>
            </a:r>
          </a:p>
        </p:txBody>
      </p:sp>
      <p:sp>
        <p:nvSpPr>
          <p:cNvPr id="41" name="revision-失败：战斗数据不变，仅提示；">
            <a:extLst xmlns:a="http://schemas.openxmlformats.org/drawingml/2006/main">
              <a:ext uri="{FF2B5EF4-FFF2-40B4-BE49-F238E27FC236}">
                <a16:creationId xmlns:a16="http://schemas.microsoft.com/office/drawing/2014/main" id="{F1B173A1-A8C4-4C89-88C8-CB3B0EDC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6742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失败：战斗数据不变，仅提示；成功：控制器再次获取快照并刷新</a:t>
            </a:r>
          </a:p>
        </p:txBody>
      </p:sp>
    </p:spTree>
    <p:extLst>
      <p:ext uri="{BB962C8B-B14F-4D97-AF65-F5344CB8AC3E}">
        <p14:creationId xmlns:p14="http://schemas.microsoft.com/office/powerpoint/2010/main" val="6875488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58">
            <a:extLst xmlns:a="http://schemas.openxmlformats.org/drawingml/2006/main">
              <a:ext uri="{FF2B5EF4-FFF2-40B4-BE49-F238E27FC236}">
                <a16:creationId xmlns:a16="http://schemas.microsoft.com/office/drawing/2014/main" id="{498C387B-78E4-42AD-8144-EC3C67E6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最难的部分：回合结算的先后顺序</a:t>
            </a:r>
            <a:endParaRPr sz="3600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ext-59">
            <a:extLst xmlns:a="http://schemas.openxmlformats.org/drawingml/2006/main">
              <a:ext uri="{FF2B5EF4-FFF2-40B4-BE49-F238E27FC236}">
                <a16:creationId xmlns:a16="http://schemas.microsoft.com/office/drawing/2014/main" id="{B5061F45-8305-4E24-ADA1-593317D9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07</a:t>
            </a:r>
            <a:endParaRPr sz="1650" b="0">
              <a:solidFill>
                <a:srgbClr val="5265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-60">
            <a:extLst xmlns:a="http://schemas.openxmlformats.org/drawingml/2006/main">
              <a:ext uri="{FF2B5EF4-FFF2-40B4-BE49-F238E27FC236}">
                <a16:creationId xmlns:a16="http://schemas.microsoft.com/office/drawing/2014/main" id="{14896C50-8EB3-4112-8EA5-6596D4AC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19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75" b="1">
                <a:solidFill>
                  <a:srgbClr val="087F86"/>
                </a:solidFill>
                <a:latin typeface="微软雅黑"/>
                <a:ea typeface="微软雅黑"/>
                <a:cs typeface="微软雅黑"/>
              </a:defRPr>
            </a:pPr>
            <a:r>
              <a:rPr sz="3375" b="1">
                <a:solidFill>
                  <a:srgbClr val="087F86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3375" b="1">
              <a:solidFill>
                <a:srgbClr val="087F8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-61">
            <a:extLst xmlns:a="http://schemas.openxmlformats.org/drawingml/2006/main">
              <a:ext uri="{FF2B5EF4-FFF2-40B4-BE49-F238E27FC236}">
                <a16:creationId xmlns:a16="http://schemas.microsoft.com/office/drawing/2014/main" id="{1182FFDB-A855-4163-8379-3383715B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50495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玩家结束回合</a:t>
            </a:r>
            <a:endParaRPr sz="2400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-62">
            <a:extLst xmlns:a="http://schemas.openxmlformats.org/drawingml/2006/main">
              <a:ext uri="{FF2B5EF4-FFF2-40B4-BE49-F238E27FC236}">
                <a16:creationId xmlns:a16="http://schemas.microsoft.com/office/drawing/2014/main" id="{7F34FEA0-A7B2-48C7-B965-9179F6C3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1524000"/>
            <a:ext cx="61245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剩余手牌弃置；清除敌人旧格挡</a:t>
            </a:r>
            <a:endParaRPr sz="2100" b="0">
              <a:solidFill>
                <a:srgbClr val="5265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-63">
            <a:extLst xmlns:a="http://schemas.openxmlformats.org/drawingml/2006/main">
              <a:ext uri="{FF2B5EF4-FFF2-40B4-BE49-F238E27FC236}">
                <a16:creationId xmlns:a16="http://schemas.microsoft.com/office/drawing/2014/main" id="{C0BB9017-73FD-4AB0-A461-68E8B7A0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819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75" b="1">
                <a:solidFill>
                  <a:srgbClr val="087F86"/>
                </a:solidFill>
                <a:latin typeface="微软雅黑"/>
                <a:ea typeface="微软雅黑"/>
                <a:cs typeface="微软雅黑"/>
              </a:defRPr>
            </a:pPr>
            <a:r>
              <a:rPr sz="3375" b="1">
                <a:solidFill>
                  <a:srgbClr val="087F86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3375" b="1">
              <a:solidFill>
                <a:srgbClr val="087F8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-64">
            <a:extLst xmlns:a="http://schemas.openxmlformats.org/drawingml/2006/main">
              <a:ext uri="{FF2B5EF4-FFF2-40B4-BE49-F238E27FC236}">
                <a16:creationId xmlns:a16="http://schemas.microsoft.com/office/drawing/2014/main" id="{3E3B95B7-69CF-4CD0-86E1-0FE7139D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5270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执行当前敌方意图</a:t>
            </a:r>
            <a:endParaRPr sz="2400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-65">
            <a:extLst xmlns:a="http://schemas.openxmlformats.org/drawingml/2006/main">
              <a:ext uri="{FF2B5EF4-FFF2-40B4-BE49-F238E27FC236}">
                <a16:creationId xmlns:a16="http://schemas.microsoft.com/office/drawing/2014/main" id="{FF51921A-6BE4-447F-9555-61A18432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571750"/>
            <a:ext cx="61245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玩家格挡先抵伤，余量才扣生命</a:t>
            </a:r>
            <a:endParaRPr sz="2100" b="0">
              <a:solidFill>
                <a:srgbClr val="5265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-66">
            <a:extLst xmlns:a="http://schemas.openxmlformats.org/drawingml/2006/main">
              <a:ext uri="{FF2B5EF4-FFF2-40B4-BE49-F238E27FC236}">
                <a16:creationId xmlns:a16="http://schemas.microsoft.com/office/drawing/2014/main" id="{1781767C-C4DC-465C-BA74-2E300D79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819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75" b="1">
                <a:solidFill>
                  <a:srgbClr val="087F86"/>
                </a:solidFill>
                <a:latin typeface="微软雅黑"/>
                <a:ea typeface="微软雅黑"/>
                <a:cs typeface="微软雅黑"/>
              </a:defRPr>
            </a:pPr>
            <a:r>
              <a:rPr sz="3375" b="1">
                <a:solidFill>
                  <a:srgbClr val="087F86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375" b="1">
              <a:solidFill>
                <a:srgbClr val="087F8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-67">
            <a:extLst xmlns:a="http://schemas.openxmlformats.org/drawingml/2006/main">
              <a:ext uri="{FF2B5EF4-FFF2-40B4-BE49-F238E27FC236}">
                <a16:creationId xmlns:a16="http://schemas.microsoft.com/office/drawing/2014/main" id="{7DE3B09F-AB24-40A8-A77F-07910E12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0045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清挡与死亡判定</a:t>
            </a:r>
            <a:endParaRPr sz="2400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-68">
            <a:extLst xmlns:a="http://schemas.openxmlformats.org/drawingml/2006/main">
              <a:ext uri="{FF2B5EF4-FFF2-40B4-BE49-F238E27FC236}">
                <a16:creationId xmlns:a16="http://schemas.microsoft.com/office/drawing/2014/main" id="{3A825895-6632-45B2-B0A9-1597AF0F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619500"/>
            <a:ext cx="61245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清玩家格挡；死亡则立即终止</a:t>
            </a:r>
            <a:endParaRPr sz="2100" b="0">
              <a:solidFill>
                <a:srgbClr val="5265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-69">
            <a:extLst xmlns:a="http://schemas.openxmlformats.org/drawingml/2006/main">
              <a:ext uri="{FF2B5EF4-FFF2-40B4-BE49-F238E27FC236}">
                <a16:creationId xmlns:a16="http://schemas.microsoft.com/office/drawing/2014/main" id="{E058AF3B-60C1-41AA-96B4-D3F8DB09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819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75" b="1">
                <a:solidFill>
                  <a:srgbClr val="087F86"/>
                </a:solidFill>
                <a:latin typeface="微软雅黑"/>
                <a:ea typeface="微软雅黑"/>
                <a:cs typeface="微软雅黑"/>
              </a:defRPr>
            </a:pPr>
            <a:r>
              <a:rPr sz="3375" b="1">
                <a:solidFill>
                  <a:srgbClr val="087F86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3375" b="1">
              <a:solidFill>
                <a:srgbClr val="087F8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text-70">
            <a:extLst xmlns:a="http://schemas.openxmlformats.org/drawingml/2006/main">
              <a:ext uri="{FF2B5EF4-FFF2-40B4-BE49-F238E27FC236}">
                <a16:creationId xmlns:a16="http://schemas.microsoft.com/office/drawing/2014/main" id="{C29ACF3B-0F5E-45D8-8826-5B53650E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4820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存活才开始新回合</a:t>
            </a:r>
            <a:endParaRPr sz="2400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text-71">
            <a:extLst xmlns:a="http://schemas.openxmlformats.org/drawingml/2006/main">
              <a:ext uri="{FF2B5EF4-FFF2-40B4-BE49-F238E27FC236}">
                <a16:creationId xmlns:a16="http://schemas.microsoft.com/office/drawing/2014/main" id="{4DE8847A-B020-4370-9573-4E1800C4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667250"/>
            <a:ext cx="61245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回合数 +1 → 新意图 → 3 能量、抽牌</a:t>
            </a:r>
            <a:endParaRPr sz="2100" b="0">
              <a:solidFill>
                <a:srgbClr val="5265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revision-错误顺序的后果：提前清挡会让">
            <a:extLst xmlns:a="http://schemas.openxmlformats.org/drawingml/2006/main">
              <a:ext uri="{FF2B5EF4-FFF2-40B4-BE49-F238E27FC236}">
                <a16:creationId xmlns:a16="http://schemas.microsoft.com/office/drawing/2014/main" id="{35C49C00-DD7B-495A-AEEE-3E39BCB3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8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87F86"/>
                </a:solidFill>
                <a:latin typeface="微软雅黑"/>
                <a:ea typeface="微软雅黑"/>
                <a:cs typeface="微软雅黑"/>
              </a:rPr>
              <a:t>错误顺序的后果：提前清挡会让防御失效；死亡后继续抽牌会让终局状态被覆盖</a:t>
            </a:r>
          </a:p>
        </p:txBody>
      </p:sp>
    </p:spTree>
    <p:extLst>
      <p:ext uri="{BB962C8B-B14F-4D97-AF65-F5344CB8AC3E}">
        <p14:creationId xmlns:p14="http://schemas.microsoft.com/office/powerpoint/2010/main" val="5842428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72">
            <a:extLst xmlns:a="http://schemas.openxmlformats.org/drawingml/2006/main">
              <a:ext uri="{FF2B5EF4-FFF2-40B4-BE49-F238E27FC236}">
                <a16:creationId xmlns:a16="http://schemas.microsoft.com/office/drawing/2014/main" id="{B2934C82-DB64-493A-B28B-F4DE0472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用边界用例验证关键规则</a:t>
            </a:r>
            <a:endParaRPr sz="3600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ext-73">
            <a:extLst xmlns:a="http://schemas.openxmlformats.org/drawingml/2006/main">
              <a:ext uri="{FF2B5EF4-FFF2-40B4-BE49-F238E27FC236}">
                <a16:creationId xmlns:a16="http://schemas.microsoft.com/office/drawing/2014/main" id="{6943D0AC-C850-4C4D-97FE-09C98745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08</a:t>
            </a:r>
            <a:endParaRPr sz="1650" b="0">
              <a:solidFill>
                <a:srgbClr val="526577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2" name="表格 9"/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64008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71625"/>
                <a:gridCol w="1952625"/>
                <a:gridCol w="2876550"/>
              </a:tblGrid>
              <a:tr h="73152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测试场景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>
                    <a:solidFill>
                      <a:srgbClr val="132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给定条件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>
                    <a:solidFill>
                      <a:srgbClr val="132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预期结果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>
                    <a:solidFill>
                      <a:srgbClr val="1326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2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能量不足</a:t>
                      </a:r>
                      <a:endParaRPr sz="1725" b="0">
                        <a:solidFill>
                          <a:srgbClr val="18324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2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 能量 / 1 费用</a:t>
                      </a:r>
                      <a:endParaRPr sz="1725" b="0">
                        <a:solidFill>
                          <a:srgbClr val="18324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2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拒绝；战斗数据不变</a:t>
                      </a:r>
                      <a:endParaRPr sz="1725" b="0">
                        <a:solidFill>
                          <a:srgbClr val="18324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2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索引越界</a:t>
                      </a:r>
                      <a:endParaRPr sz="1725" b="0">
                        <a:solidFill>
                          <a:srgbClr val="18324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2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−1 或 hand.size</a:t>
                      </a:r>
                      <a:endParaRPr sz="1725" b="0">
                        <a:solidFill>
                          <a:srgbClr val="18324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2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拒绝；牌堆不变化</a:t>
                      </a:r>
                      <a:endParaRPr sz="1725" b="0">
                        <a:solidFill>
                          <a:srgbClr val="18324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2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格挡抵伤</a:t>
                      </a:r>
                      <a:endParaRPr sz="1725" b="0">
                        <a:solidFill>
                          <a:srgbClr val="18324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2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格挡 / 6 伤害</a:t>
                      </a:r>
                      <a:endParaRPr sz="1725" b="0">
                        <a:solidFill>
                          <a:srgbClr val="18324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2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格挡归零；HP 减 1</a:t>
                      </a:r>
                      <a:endParaRPr sz="1725" b="0">
                        <a:solidFill>
                          <a:srgbClr val="18324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2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致命攻击</a:t>
                      </a:r>
                      <a:endParaRPr sz="1725" b="0">
                        <a:solidFill>
                          <a:srgbClr val="18324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2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伤害足以致死</a:t>
                      </a:r>
                      <a:endParaRPr sz="1725" b="0">
                        <a:solidFill>
                          <a:srgbClr val="18324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2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失败；不再开始新回合</a:t>
                      </a:r>
                      <a:endParaRPr sz="1725" b="0">
                        <a:solidFill>
                          <a:srgbClr val="18324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74">
            <a:extLst xmlns:a="http://schemas.openxmlformats.org/drawingml/2006/main">
              <a:ext uri="{FF2B5EF4-FFF2-40B4-BE49-F238E27FC236}">
                <a16:creationId xmlns:a16="http://schemas.microsoft.com/office/drawing/2014/main" id="{5EB895D2-9AC3-4F54-BFB1-77C686E9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562100"/>
            <a:ext cx="4048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87F8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87F86"/>
                </a:solidFill>
                <a:latin typeface="微软雅黑"/>
                <a:ea typeface="微软雅黑"/>
                <a:cs typeface="微软雅黑"/>
              </a:rPr>
              <a:t>还要测“空”和“结束”</a:t>
            </a:r>
            <a:endParaRPr sz="2400" b="1">
              <a:solidFill>
                <a:srgbClr val="087F8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-75">
            <a:extLst xmlns:a="http://schemas.openxmlformats.org/drawingml/2006/main">
              <a:ext uri="{FF2B5EF4-FFF2-40B4-BE49-F238E27FC236}">
                <a16:creationId xmlns:a16="http://schemas.microsoft.com/office/drawing/2014/main" id="{86AA9DDB-C8A5-4BCD-B4FF-75CA2D45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286000"/>
            <a:ext cx="404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抽牌堆与弃牌堆均为空</a:t>
            </a:r>
            <a:endParaRPr sz="2025" b="0">
              <a:solidFill>
                <a:srgbClr val="5265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-76">
            <a:extLst xmlns:a="http://schemas.openxmlformats.org/drawingml/2006/main">
              <a:ext uri="{FF2B5EF4-FFF2-40B4-BE49-F238E27FC236}">
                <a16:creationId xmlns:a16="http://schemas.microsoft.com/office/drawing/2014/main" id="{729B1262-357E-4922-9589-E3B4B807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990850"/>
            <a:ext cx="4048125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只抽实际可用的牌</a:t>
            </a:r>
            <a:endParaRPr sz="2850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  <a:defRPr sz="19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终局后重复点击</a:t>
            </a:r>
            <a:endParaRPr sz="2850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  <a:defRPr sz="19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不扣费、不出牌、不换回合</a:t>
            </a:r>
            <a:endParaRPr sz="2850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-77">
            <a:extLst xmlns:a="http://schemas.openxmlformats.org/drawingml/2006/main">
              <a:ext uri="{FF2B5EF4-FFF2-40B4-BE49-F238E27FC236}">
                <a16:creationId xmlns:a16="http://schemas.microsoft.com/office/drawing/2014/main" id="{E5383F57-5F95-4F2B-BE22-8652AA8C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839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这些是预期断言，不是已通过报告；同时检查 HP、能量、手牌与两类牌堆</a:t>
            </a:r>
            <a:endParaRPr sz="2025" b="0">
              <a:solidFill>
                <a:srgbClr val="526577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2064446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78">
            <a:extLst xmlns:a="http://schemas.openxmlformats.org/drawingml/2006/main">
              <a:ext uri="{FF2B5EF4-FFF2-40B4-BE49-F238E27FC236}">
                <a16:creationId xmlns:a16="http://schemas.microsoft.com/office/drawing/2014/main" id="{72167D63-EAA1-4E8A-B124-7177C909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牌堆与关卡切换：检查状态不变量</a:t>
            </a:r>
            <a:endParaRPr sz="3600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ext-79">
            <a:extLst xmlns:a="http://schemas.openxmlformats.org/drawingml/2006/main">
              <a:ext uri="{FF2B5EF4-FFF2-40B4-BE49-F238E27FC236}">
                <a16:creationId xmlns:a16="http://schemas.microsoft.com/office/drawing/2014/main" id="{D4A0B388-BA79-4C14-89D8-9606C222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09</a:t>
            </a:r>
            <a:endParaRPr sz="1650" b="0">
              <a:solidFill>
                <a:srgbClr val="526577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5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ebf3d04b14e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345036"/>
            <a:ext cx="5295900" cy="4825153"/>
          </a:xfrm>
          <a:prstGeom xmlns:a="http://schemas.openxmlformats.org/drawingml/2006/main" prst="rect">
            <a:avLst/>
          </a:prstGeom>
        </p:spPr>
      </p:pic>
      <p:sp>
        <p:nvSpPr>
          <p:cNvPr id="4" name="text-80">
            <a:extLst xmlns:a="http://schemas.openxmlformats.org/drawingml/2006/main">
              <a:ext uri="{FF2B5EF4-FFF2-40B4-BE49-F238E27FC236}">
                <a16:creationId xmlns:a16="http://schemas.microsoft.com/office/drawing/2014/main" id="{B358BF00-BD95-4DBF-AACC-1B2FAAD0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476375"/>
            <a:ext cx="5133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战斗中：牌数守恒</a:t>
            </a:r>
            <a:endParaRPr sz="2325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-81">
            <a:extLst xmlns:a="http://schemas.openxmlformats.org/drawingml/2006/main">
              <a:ext uri="{FF2B5EF4-FFF2-40B4-BE49-F238E27FC236}">
                <a16:creationId xmlns:a16="http://schemas.microsoft.com/office/drawing/2014/main" id="{FC995CEA-41BA-490B-8B11-0CC09788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924050"/>
            <a:ext cx="51339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手牌 + 抽牌堆 + 弃牌堆 = 当前牌组</a:t>
            </a:r>
            <a:endParaRPr sz="1800" b="0">
              <a:solidFill>
                <a:srgbClr val="5265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-82">
            <a:extLst xmlns:a="http://schemas.openxmlformats.org/drawingml/2006/main">
              <a:ext uri="{FF2B5EF4-FFF2-40B4-BE49-F238E27FC236}">
                <a16:creationId xmlns:a16="http://schemas.microsoft.com/office/drawing/2014/main" id="{DA1A24DC-036E-4373-969F-AB726115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809875"/>
            <a:ext cx="5133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奖励中：锁定战斗入口</a:t>
            </a:r>
            <a:endParaRPr sz="2325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-83">
            <a:extLst xmlns:a="http://schemas.openxmlformats.org/drawingml/2006/main">
              <a:ext uri="{FF2B5EF4-FFF2-40B4-BE49-F238E27FC236}">
                <a16:creationId xmlns:a16="http://schemas.microsoft.com/office/drawing/2014/main" id="{60F11953-C484-46EA-88B7-24A75205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257550"/>
            <a:ext cx="51339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未选牌时，出牌与结束回合都应拒绝</a:t>
            </a:r>
            <a:endParaRPr sz="1800" b="0">
              <a:solidFill>
                <a:srgbClr val="5265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-84">
            <a:extLst xmlns:a="http://schemas.openxmlformats.org/drawingml/2006/main">
              <a:ext uri="{FF2B5EF4-FFF2-40B4-BE49-F238E27FC236}">
                <a16:creationId xmlns:a16="http://schemas.microsoft.com/office/drawing/2014/main" id="{DF91957E-903C-490B-96F6-566D2791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143375"/>
            <a:ext cx="5133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选牌后：验证完整状态迁移</a:t>
            </a:r>
            <a:endParaRPr sz="2325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-85">
            <a:extLst xmlns:a="http://schemas.openxmlformats.org/drawingml/2006/main">
              <a:ext uri="{FF2B5EF4-FFF2-40B4-BE49-F238E27FC236}">
                <a16:creationId xmlns:a16="http://schemas.microsoft.com/office/drawing/2014/main" id="{47F4D3B8-66E5-464B-99FD-5B928AC4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591050"/>
            <a:ext cx="51339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牌组 +1、关卡 +1、HP 保留、牌堆重整</a:t>
            </a:r>
            <a:endParaRPr sz="1800" b="0">
              <a:solidFill>
                <a:srgbClr val="5265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revision-左图为当前多关卡实现；奖励流">
            <a:extLst xmlns:a="http://schemas.openxmlformats.org/drawingml/2006/main">
              <a:ext uri="{FF2B5EF4-FFF2-40B4-BE49-F238E27FC236}">
                <a16:creationId xmlns:a16="http://schemas.microsoft.com/office/drawing/2014/main" id="{4FFF1AC9-D797-4201-924D-9F26BCEF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429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左图为当前多关卡实现；奖励流程是相对文档单关方案的扩展</a:t>
            </a:r>
          </a:p>
        </p:txBody>
      </p:sp>
    </p:spTree>
    <p:extLst>
      <p:ext uri="{BB962C8B-B14F-4D97-AF65-F5344CB8AC3E}">
        <p14:creationId xmlns:p14="http://schemas.microsoft.com/office/powerpoint/2010/main" val="15552761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86">
            <a:extLst xmlns:a="http://schemas.openxmlformats.org/drawingml/2006/main">
              <a:ext uri="{FF2B5EF4-FFF2-40B4-BE49-F238E27FC236}">
                <a16:creationId xmlns:a16="http://schemas.microsoft.com/office/drawing/2014/main" id="{6D77A3E1-3C42-49B4-AA89-E7741398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测试分三层，先规则，后界面</a:t>
            </a:r>
            <a:endParaRPr sz="3600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ext-87">
            <a:extLst xmlns:a="http://schemas.openxmlformats.org/drawingml/2006/main">
              <a:ext uri="{FF2B5EF4-FFF2-40B4-BE49-F238E27FC236}">
                <a16:creationId xmlns:a16="http://schemas.microsoft.com/office/drawing/2014/main" id="{C7C58B60-3CD1-4EC6-AF35-7E5839CC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10</a:t>
            </a:r>
            <a:endParaRPr sz="1650" b="0">
              <a:solidFill>
                <a:srgbClr val="5265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-88">
            <a:extLst xmlns:a="http://schemas.openxmlformats.org/drawingml/2006/main">
              <a:ext uri="{FF2B5EF4-FFF2-40B4-BE49-F238E27FC236}">
                <a16:creationId xmlns:a16="http://schemas.microsoft.com/office/drawing/2014/main" id="{D93B3318-03CC-40C9-B4BE-FFCC433C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087F86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087F86"/>
                </a:solidFill>
                <a:latin typeface="微软雅黑"/>
                <a:ea typeface="微软雅黑"/>
                <a:cs typeface="微软雅黑"/>
              </a:rPr>
              <a:t>① 模型单测：不启动 JavaFX 窗口</a:t>
            </a:r>
            <a:endParaRPr sz="2475" b="1">
              <a:solidFill>
                <a:srgbClr val="087F8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DF15CDA-4E77-4068-871F-A54494F3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109728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3B"/>
          </a:solidFill>
          <a:ln xmlns:a="http://schemas.openxmlformats.org/drawingml/2006/main" w="0">
            <a:noFill/>
          </a:ln>
        </p:spPr>
      </p:sp>
      <p:sp>
        <p:nvSpPr>
          <p:cNvPr id="5" name="text-89">
            <a:extLst xmlns:a="http://schemas.openxmlformats.org/drawingml/2006/main">
              <a:ext uri="{FF2B5EF4-FFF2-40B4-BE49-F238E27FC236}">
                <a16:creationId xmlns:a16="http://schemas.microsoft.com/office/drawing/2014/main" id="{097195AC-A5E1-4FBD-BED6-D0D9C7A0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431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固定初始状态 → 执行一个动作 → 断言状态变化</a:t>
            </a:r>
            <a:endParaRPr sz="217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  <a:defRPr sz="2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重点：能量、格挡、牌堆守恒、死亡后停止推进</a:t>
            </a:r>
            <a:endParaRPr sz="217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-90">
            <a:extLst xmlns:a="http://schemas.openxmlformats.org/drawingml/2006/main">
              <a:ext uri="{FF2B5EF4-FFF2-40B4-BE49-F238E27FC236}">
                <a16:creationId xmlns:a16="http://schemas.microsoft.com/office/drawing/2014/main" id="{5C707F74-BEDB-4B98-A792-AD012F02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② 控制器协作测试：用替身替代两端</a:t>
            </a:r>
            <a:endParaRPr sz="2325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-91">
            <a:extLst xmlns:a="http://schemas.openxmlformats.org/drawingml/2006/main">
              <a:ext uri="{FF2B5EF4-FFF2-40B4-BE49-F238E27FC236}">
                <a16:creationId xmlns:a16="http://schemas.microsoft.com/office/drawing/2014/main" id="{8995EEA7-2FB0-4FAA-8A5B-E5A527D6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Fake BattleGame 记录调用；Fake ViewPort 验证 render 收到快照</a:t>
            </a:r>
            <a:endParaRPr sz="1800" b="0">
              <a:solidFill>
                <a:srgbClr val="5265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-92">
            <a:extLst xmlns:a="http://schemas.openxmlformats.org/drawingml/2006/main">
              <a:ext uri="{FF2B5EF4-FFF2-40B4-BE49-F238E27FC236}">
                <a16:creationId xmlns:a16="http://schemas.microsoft.com/office/drawing/2014/main" id="{61DC38C4-7F98-414B-A621-E6081669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③ 界面验收：核对可见状态与操作限制</a:t>
            </a:r>
            <a:endParaRPr sz="2325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-93">
            <a:extLst xmlns:a="http://schemas.openxmlformats.org/drawingml/2006/main">
              <a:ext uri="{FF2B5EF4-FFF2-40B4-BE49-F238E27FC236}">
                <a16:creationId xmlns:a16="http://schemas.microsoft.com/office/drawing/2014/main" id="{827E1C2B-7BF4-48C3-8910-793255F7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点击出牌、结束回合、重新开始；检查显示同步与终局禁用</a:t>
            </a:r>
            <a:endParaRPr sz="1800" b="0">
              <a:solidFill>
                <a:srgbClr val="5265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revision-② 为接口化方案落地后的测试">
            <a:extLst xmlns:a="http://schemas.openxmlformats.org/drawingml/2006/main">
              <a:ext uri="{FF2B5EF4-FFF2-40B4-BE49-F238E27FC236}">
                <a16:creationId xmlns:a16="http://schemas.microsoft.com/office/drawing/2014/main" id="{5B85E81B-2F6B-4E13-8188-E1B78285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864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② 为接口化方案落地后的测试设计，当前代码暂不能直接套用</a:t>
            </a:r>
          </a:p>
        </p:txBody>
      </p:sp>
    </p:spTree>
    <p:extLst>
      <p:ext uri="{BB962C8B-B14F-4D97-AF65-F5344CB8AC3E}">
        <p14:creationId xmlns:p14="http://schemas.microsoft.com/office/powerpoint/2010/main" val="12609253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94">
            <a:extLst xmlns:a="http://schemas.openxmlformats.org/drawingml/2006/main">
              <a:ext uri="{FF2B5EF4-FFF2-40B4-BE49-F238E27FC236}">
                <a16:creationId xmlns:a16="http://schemas.microsoft.com/office/drawing/2014/main" id="{23C05775-D304-44B3-98CA-25F1113E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已有用例的教训：不能跳过中间状态</a:t>
            </a:r>
            <a:endParaRPr sz="3600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ext-95">
            <a:extLst xmlns:a="http://schemas.openxmlformats.org/drawingml/2006/main">
              <a:ext uri="{FF2B5EF4-FFF2-40B4-BE49-F238E27FC236}">
                <a16:creationId xmlns:a16="http://schemas.microsoft.com/office/drawing/2014/main" id="{B6C88B90-4B7D-4C92-8E48-D9463632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11</a:t>
            </a:r>
            <a:endParaRPr sz="1650" b="0">
              <a:solidFill>
                <a:srgbClr val="5265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-96">
            <a:extLst xmlns:a="http://schemas.openxmlformats.org/drawingml/2006/main">
              <a:ext uri="{FF2B5EF4-FFF2-40B4-BE49-F238E27FC236}">
                <a16:creationId xmlns:a16="http://schemas.microsoft.com/office/drawing/2014/main" id="{51B8839C-E394-4433-98B3-74DE3D17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57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代码核对：victoryCondition</a:t>
            </a:r>
            <a:endParaRPr sz="4050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-97">
            <a:extLst xmlns:a="http://schemas.openxmlformats.org/drawingml/2006/main">
              <a:ext uri="{FF2B5EF4-FFF2-40B4-BE49-F238E27FC236}">
                <a16:creationId xmlns:a16="http://schemas.microsoft.com/office/drawing/2014/main" id="{A2215FD3-5808-432C-B72B-04C120D3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666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87F86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087F86"/>
                </a:solidFill>
                <a:latin typeface="微软雅黑"/>
                <a:ea typeface="微软雅黑"/>
                <a:cs typeface="微软雅黑"/>
              </a:rPr>
              <a:t>第一关胜利 ≠ 整局通关</a:t>
            </a:r>
            <a:endParaRPr sz="3450" b="1">
              <a:solidFill>
                <a:srgbClr val="087F8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-98">
            <a:extLst xmlns:a="http://schemas.openxmlformats.org/drawingml/2006/main">
              <a:ext uri="{FF2B5EF4-FFF2-40B4-BE49-F238E27FC236}">
                <a16:creationId xmlns:a16="http://schemas.microsoft.com/office/drawing/2014/main" id="{CBA1D092-28A7-4E4B-84A5-8F262020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现有测试只循环出牌 / 结束回合，没有调用 selectReward()</a:t>
            </a:r>
            <a:endParaRPr sz="1875" b="0">
              <a:solidFill>
                <a:srgbClr val="5265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-99">
            <a:extLst xmlns:a="http://schemas.openxmlformats.org/drawingml/2006/main">
              <a:ext uri="{FF2B5EF4-FFF2-40B4-BE49-F238E27FC236}">
                <a16:creationId xmlns:a16="http://schemas.microsoft.com/office/drawing/2014/main" id="{FE3F9D9F-C02E-488B-BAA4-4B7A277B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AC402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C402F"/>
                </a:solidFill>
                <a:latin typeface="微软雅黑"/>
                <a:ea typeface="微软雅黑"/>
                <a:cs typeface="微软雅黑"/>
              </a:rPr>
              <a:t>修正思路：逐段断言完整路径</a:t>
            </a:r>
            <a:endParaRPr sz="2400" b="1">
              <a:solidFill>
                <a:srgbClr val="AC40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-100">
            <a:extLst xmlns:a="http://schemas.openxmlformats.org/drawingml/2006/main">
              <a:ext uri="{FF2B5EF4-FFF2-40B4-BE49-F238E27FC236}">
                <a16:creationId xmlns:a16="http://schemas.microsoft.com/office/drawing/2014/main" id="{8A13FE63-E25D-4D84-B0F6-B68CB5CA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击败小怪 → 奖励等待 → 选择奖励 → 下一关 → Boss 胜利</a:t>
            </a:r>
            <a:endParaRPr sz="2250" b="0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-101">
            <a:extLst xmlns:a="http://schemas.openxmlformats.org/drawingml/2006/main">
              <a:ext uri="{FF2B5EF4-FFF2-40B4-BE49-F238E27FC236}">
                <a16:creationId xmlns:a16="http://schemas.microsoft.com/office/drawing/2014/main" id="{ED5D5CBA-316E-4BBA-A3FF-79524989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避免“满足 if 才断言”的空通过；本次仅核对源码，未重新执行测试</a:t>
            </a:r>
            <a:endParaRPr sz="1950" b="0">
              <a:solidFill>
                <a:srgbClr val="526577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7242211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02">
            <a:extLst xmlns:a="http://schemas.openxmlformats.org/drawingml/2006/main">
              <a:ext uri="{FF2B5EF4-FFF2-40B4-BE49-F238E27FC236}">
                <a16:creationId xmlns:a16="http://schemas.microsoft.com/office/drawing/2014/main" id="{14A1631D-524D-472A-87C2-60AD0040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如何让随机流程可复现</a:t>
            </a:r>
            <a:endParaRPr sz="3600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ext-103">
            <a:extLst xmlns:a="http://schemas.openxmlformats.org/drawingml/2006/main">
              <a:ext uri="{FF2B5EF4-FFF2-40B4-BE49-F238E27FC236}">
                <a16:creationId xmlns:a16="http://schemas.microsoft.com/office/drawing/2014/main" id="{4C9D6792-1A76-4A1F-83E8-CA6272E4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12</a:t>
            </a:r>
            <a:endParaRPr sz="1650" b="0">
              <a:solidFill>
                <a:srgbClr val="5265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-104">
            <a:extLst xmlns:a="http://schemas.openxmlformats.org/drawingml/2006/main">
              <a:ext uri="{FF2B5EF4-FFF2-40B4-BE49-F238E27FC236}">
                <a16:creationId xmlns:a16="http://schemas.microsoft.com/office/drawing/2014/main" id="{60D20118-2044-4F93-BA0F-4186AA1B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① 固定输入，而不是等待运气</a:t>
            </a:r>
            <a:endParaRPr sz="2325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-105">
            <a:extLst xmlns:a="http://schemas.openxmlformats.org/drawingml/2006/main">
              <a:ext uri="{FF2B5EF4-FFF2-40B4-BE49-F238E27FC236}">
                <a16:creationId xmlns:a16="http://schemas.microsoft.com/office/drawing/2014/main" id="{49AAF041-ADDE-4A84-9FFC-411D6E5A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设计建议：注入随机源；固定牌序与敌方意图后测试边界</a:t>
            </a:r>
            <a:endParaRPr sz="1800" b="0">
              <a:solidFill>
                <a:srgbClr val="5265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-106">
            <a:extLst xmlns:a="http://schemas.openxmlformats.org/drawingml/2006/main">
              <a:ext uri="{FF2B5EF4-FFF2-40B4-BE49-F238E27FC236}">
                <a16:creationId xmlns:a16="http://schemas.microsoft.com/office/drawing/2014/main" id="{67AC55D5-0C42-4245-8CAB-F841DF2D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② 每一步都有可观察的断言</a:t>
            </a:r>
            <a:endParaRPr sz="2325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-107">
            <a:extLst xmlns:a="http://schemas.openxmlformats.org/drawingml/2006/main">
              <a:ext uri="{FF2B5EF4-FFF2-40B4-BE49-F238E27FC236}">
                <a16:creationId xmlns:a16="http://schemas.microsoft.com/office/drawing/2014/main" id="{3547BBB0-BB29-4ECA-96D1-DE58BD77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出牌看扣费和弃牌；结束回合看抵伤、清挡与新回合准备</a:t>
            </a:r>
            <a:endParaRPr sz="1800" b="0">
              <a:solidFill>
                <a:srgbClr val="5265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-108">
            <a:extLst xmlns:a="http://schemas.openxmlformats.org/drawingml/2006/main">
              <a:ext uri="{FF2B5EF4-FFF2-40B4-BE49-F238E27FC236}">
                <a16:creationId xmlns:a16="http://schemas.microsoft.com/office/drawing/2014/main" id="{90B3BE6C-8E5B-4656-B6E2-AA0863AE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③ 演示只验证界面，自动化验证规则</a:t>
            </a:r>
            <a:endParaRPr sz="2325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-109">
            <a:extLst xmlns:a="http://schemas.openxmlformats.org/drawingml/2006/main">
              <a:ext uri="{FF2B5EF4-FFF2-40B4-BE49-F238E27FC236}">
                <a16:creationId xmlns:a16="http://schemas.microsoft.com/office/drawing/2014/main" id="{92B934DA-3333-4DA2-AB7E-588475C1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现场演示一轮攻防与奖励选择；失败、空堆、重复操作交给用例</a:t>
            </a:r>
            <a:endParaRPr sz="1800" b="0">
              <a:solidFill>
                <a:srgbClr val="5265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-110">
            <a:extLst xmlns:a="http://schemas.openxmlformats.org/drawingml/2006/main">
              <a:ext uri="{FF2B5EF4-FFF2-40B4-BE49-F238E27FC236}">
                <a16:creationId xmlns:a16="http://schemas.microsoft.com/office/drawing/2014/main" id="{8591BA27-1093-454E-9FC5-C17D13F6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当前实现尚未统一注入随机源；不承诺固定回合通关，也不虚报覆盖率</a:t>
            </a:r>
            <a:endParaRPr sz="1875" b="0">
              <a:solidFill>
                <a:srgbClr val="526577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137497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11">
            <a:extLst xmlns:a="http://schemas.openxmlformats.org/drawingml/2006/main">
              <a:ext uri="{FF2B5EF4-FFF2-40B4-BE49-F238E27FC236}">
                <a16:creationId xmlns:a16="http://schemas.microsoft.com/office/drawing/2014/main" id="{31485436-E2FA-4116-AB22-1B362D4E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文档方案与代码现状，需要同步</a:t>
            </a:r>
            <a:endParaRPr sz="3600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ext-112">
            <a:extLst xmlns:a="http://schemas.openxmlformats.org/drawingml/2006/main">
              <a:ext uri="{FF2B5EF4-FFF2-40B4-BE49-F238E27FC236}">
                <a16:creationId xmlns:a16="http://schemas.microsoft.com/office/drawing/2014/main" id="{234F2C14-D598-45C0-A479-B3140C9C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13</a:t>
            </a:r>
            <a:endParaRPr sz="1650" b="0">
              <a:solidFill>
                <a:srgbClr val="5265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-113">
            <a:extLst xmlns:a="http://schemas.openxmlformats.org/drawingml/2006/main">
              <a:ext uri="{FF2B5EF4-FFF2-40B4-BE49-F238E27FC236}">
                <a16:creationId xmlns:a16="http://schemas.microsoft.com/office/drawing/2014/main" id="{834C460A-889E-4BE7-8916-9542AE54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820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87F86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87F86"/>
                </a:solidFill>
                <a:latin typeface="微软雅黑"/>
                <a:ea typeface="微软雅黑"/>
                <a:cs typeface="微软雅黑"/>
              </a:rPr>
              <a:t>答辩时区分“设计目标”和“实现证据”</a:t>
            </a:r>
            <a:endParaRPr sz="2550" b="1">
              <a:solidFill>
                <a:srgbClr val="087F8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-114">
            <a:extLst xmlns:a="http://schemas.openxmlformats.org/drawingml/2006/main">
              <a:ext uri="{FF2B5EF4-FFF2-40B4-BE49-F238E27FC236}">
                <a16:creationId xmlns:a16="http://schemas.microsoft.com/office/drawing/2014/main" id="{E31B79EA-D2BA-4A26-AF7B-B59A4CE7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架构：接口化目标尚未落地</a:t>
            </a:r>
            <a:endParaRPr sz="2325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-115">
            <a:extLst xmlns:a="http://schemas.openxmlformats.org/drawingml/2006/main">
              <a:ext uri="{FF2B5EF4-FFF2-40B4-BE49-F238E27FC236}">
                <a16:creationId xmlns:a16="http://schemas.microsoft.com/office/drawing/2014/main" id="{F21B73F2-4E24-4950-8E9E-6574F597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文档：BattleGame / ViewPort / Snapshot；代码：GameController + GameModel</a:t>
            </a:r>
            <a:endParaRPr sz="1800" b="0">
              <a:solidFill>
                <a:srgbClr val="5265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-116">
            <a:extLst xmlns:a="http://schemas.openxmlformats.org/drawingml/2006/main">
              <a:ext uri="{FF2B5EF4-FFF2-40B4-BE49-F238E27FC236}">
                <a16:creationId xmlns:a16="http://schemas.microsoft.com/office/drawing/2014/main" id="{0C0AAC4F-E1D3-41C1-8225-2D93002A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规则：同名项目存在版本差异</a:t>
            </a:r>
            <a:endParaRPr sz="2325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-117">
            <a:extLst xmlns:a="http://schemas.openxmlformats.org/drawingml/2006/main">
              <a:ext uri="{FF2B5EF4-FFF2-40B4-BE49-F238E27FC236}">
                <a16:creationId xmlns:a16="http://schemas.microsoft.com/office/drawing/2014/main" id="{B6A9EFF3-2C9C-4B3E-B959-4E4968D1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文档为单关、6 打击 + 4 防御；代码为四关、5 打击 + 5 防御</a:t>
            </a:r>
            <a:endParaRPr sz="1800" b="0">
              <a:solidFill>
                <a:srgbClr val="52657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-118">
            <a:extLst xmlns:a="http://schemas.openxmlformats.org/drawingml/2006/main">
              <a:ext uri="{FF2B5EF4-FFF2-40B4-BE49-F238E27FC236}">
                <a16:creationId xmlns:a16="http://schemas.microsoft.com/office/drawing/2014/main" id="{B24B6D39-E115-4C41-8BE9-1A8582C3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83248"/>
                </a:solidFill>
                <a:latin typeface="微软雅黑"/>
                <a:ea typeface="微软雅黑"/>
                <a:cs typeface="微软雅黑"/>
              </a:rPr>
              <a:t>优先级：先统一规则，再补可重复测试</a:t>
            </a:r>
            <a:endParaRPr sz="2325" b="1">
              <a:solidFill>
                <a:srgbClr val="1832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-119">
            <a:extLst xmlns:a="http://schemas.openxmlformats.org/drawingml/2006/main">
              <a:ext uri="{FF2B5EF4-FFF2-40B4-BE49-F238E27FC236}">
                <a16:creationId xmlns:a16="http://schemas.microsoft.com/office/drawing/2014/main" id="{EDCE1B92-CB33-471D-84E3-3E3F4F74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6577"/>
                </a:solidFill>
                <a:latin typeface="微软雅黑"/>
                <a:ea typeface="微软雅黑"/>
                <a:cs typeface="微软雅黑"/>
              </a:rPr>
              <a:t>敌方意图也不同：文档有强化攻击；代码使用攻击 / 防御 / 攻防</a:t>
            </a:r>
            <a:endParaRPr sz="1800" b="0">
              <a:solidFill>
                <a:srgbClr val="526577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6468301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326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20">
            <a:extLst xmlns:a="http://schemas.openxmlformats.org/drawingml/2006/main">
              <a:ext uri="{FF2B5EF4-FFF2-40B4-BE49-F238E27FC236}">
                <a16:creationId xmlns:a16="http://schemas.microsoft.com/office/drawing/2014/main" id="{CE1B0275-9505-4990-8BF0-C8D0771B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总结：设计决策最终要能被验证</a:t>
            </a:r>
            <a:endParaRPr sz="3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ext-121">
            <a:extLst xmlns:a="http://schemas.openxmlformats.org/drawingml/2006/main">
              <a:ext uri="{FF2B5EF4-FFF2-40B4-BE49-F238E27FC236}">
                <a16:creationId xmlns:a16="http://schemas.microsoft.com/office/drawing/2014/main" id="{C85BB42C-ACE5-4C1B-A550-B47A6829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B7C9D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B7C9D6"/>
                </a:solidFill>
                <a:latin typeface="微软雅黑"/>
                <a:ea typeface="微软雅黑"/>
                <a:cs typeface="微软雅黑"/>
              </a:rPr>
              <a:t>14</a:t>
            </a:r>
            <a:endParaRPr sz="1650" b="0">
              <a:solidFill>
                <a:srgbClr val="B7C9D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-122">
            <a:extLst xmlns:a="http://schemas.openxmlformats.org/drawingml/2006/main">
              <a:ext uri="{FF2B5EF4-FFF2-40B4-BE49-F238E27FC236}">
                <a16:creationId xmlns:a16="http://schemas.microsoft.com/office/drawing/2014/main" id="{83E0E9B1-A304-42A8-AB53-538F464D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3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分层不是为了增加类，而是控制修改范围</a:t>
            </a:r>
            <a:endParaRPr sz="40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-123">
            <a:extLst xmlns:a="http://schemas.openxmlformats.org/drawingml/2006/main">
              <a:ext uri="{FF2B5EF4-FFF2-40B4-BE49-F238E27FC236}">
                <a16:creationId xmlns:a16="http://schemas.microsoft.com/office/drawing/2014/main" id="{07FBA36B-175E-4AA4-A2BC-84FD145E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85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0">
                <a:solidFill>
                  <a:srgbClr val="D1DFE7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0">
                <a:solidFill>
                  <a:srgbClr val="D1DFE7"/>
                </a:solidFill>
                <a:latin typeface="微软雅黑"/>
                <a:ea typeface="微软雅黑"/>
                <a:cs typeface="微软雅黑"/>
              </a:rPr>
              <a:t>分层：界面与规则分开，接口明确边界</a:t>
            </a:r>
            <a:endParaRPr sz="2850" b="0">
              <a:solidFill>
                <a:srgbClr val="D1DFE7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  <a:defRPr sz="2625" b="0">
                <a:solidFill>
                  <a:srgbClr val="D1DFE7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0">
                <a:solidFill>
                  <a:srgbClr val="D1DFE7"/>
                </a:solidFill>
                <a:latin typeface="微软雅黑"/>
                <a:ea typeface="微软雅黑"/>
                <a:cs typeface="微软雅黑"/>
              </a:rPr>
              <a:t>难点：控制回合顺序，维护状态不变量</a:t>
            </a:r>
            <a:endParaRPr sz="2850" b="0">
              <a:solidFill>
                <a:srgbClr val="D1DFE7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  <a:defRPr sz="2625" b="0">
                <a:solidFill>
                  <a:srgbClr val="D1DFE7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0">
                <a:solidFill>
                  <a:srgbClr val="D1DFE7"/>
                </a:solidFill>
                <a:latin typeface="微软雅黑"/>
                <a:ea typeface="微软雅黑"/>
                <a:cs typeface="微软雅黑"/>
              </a:rPr>
              <a:t>测试：固定输入、边界断言、覆盖完整路径</a:t>
            </a:r>
            <a:endParaRPr sz="2850" b="0">
              <a:solidFill>
                <a:srgbClr val="D1DFE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-124">
            <a:extLst xmlns:a="http://schemas.openxmlformats.org/drawingml/2006/main">
              <a:ext uri="{FF2B5EF4-FFF2-40B4-BE49-F238E27FC236}">
                <a16:creationId xmlns:a16="http://schemas.microsoft.com/office/drawing/2014/main" id="{63C83AAE-59EC-4482-9906-A1DC5F41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E6AF52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E6AF52"/>
                </a:solidFill>
                <a:latin typeface="微软雅黑"/>
                <a:ea typeface="微软雅黑"/>
                <a:cs typeface="微软雅黑"/>
              </a:rPr>
              <a:t>下一步：同步文档与代码，落地接口与可复现测试</a:t>
            </a:r>
            <a:endParaRPr sz="2475" b="1">
              <a:solidFill>
                <a:srgbClr val="E6AF5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8736792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2026-09-15T07:15:50.0460000Z</dcterms:created>
  <dcterms:modified xsi:type="dcterms:W3CDTF">2026-09-15T07:15:50.0460000Z</dcterms:modified>
</coreProperties>
</file>